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Neue Machina Ultra-Bold" charset="1" panose="00000900000000000000"/>
      <p:regular r:id="rId20"/>
    </p:embeddedFont>
    <p:embeddedFont>
      <p:font typeface="Garet" charset="1" panose="00000000000000000000"/>
      <p:regular r:id="rId21"/>
    </p:embeddedFont>
    <p:embeddedFont>
      <p:font typeface="Montserrat Bold" charset="1" panose="00000800000000000000"/>
      <p:regular r:id="rId22"/>
    </p:embeddedFont>
    <p:embeddedFont>
      <p:font typeface="Open Sauce" charset="1" panose="00000500000000000000"/>
      <p:regular r:id="rId23"/>
    </p:embeddedFont>
    <p:embeddedFont>
      <p:font typeface="Open Sauce Bold" charset="1" panose="00000800000000000000"/>
      <p:regular r:id="rId24"/>
    </p:embeddedFont>
    <p:embeddedFont>
      <p:font typeface="Montserrat" charset="1" panose="00000500000000000000"/>
      <p:regular r:id="rId25"/>
    </p:embeddedFont>
    <p:embeddedFont>
      <p:font typeface="Neue Machina"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grpSp>
        <p:nvGrpSpPr>
          <p:cNvPr name="Group 2" id="2"/>
          <p:cNvGrpSpPr/>
          <p:nvPr/>
        </p:nvGrpSpPr>
        <p:grpSpPr>
          <a:xfrm rot="0">
            <a:off x="10256088" y="-5639429"/>
            <a:ext cx="8991126" cy="899112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483A"/>
            </a:solidFill>
            <a:ln cap="sq">
              <a:no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1028700"/>
            <a:ext cx="13436807" cy="8229600"/>
            <a:chOff x="0" y="0"/>
            <a:chExt cx="599524" cy="367188"/>
          </a:xfrm>
        </p:grpSpPr>
        <p:sp>
          <p:nvSpPr>
            <p:cNvPr name="Freeform 6" id="6"/>
            <p:cNvSpPr/>
            <p:nvPr/>
          </p:nvSpPr>
          <p:spPr>
            <a:xfrm flipH="false" flipV="false" rot="0">
              <a:off x="0" y="0"/>
              <a:ext cx="599524" cy="367188"/>
            </a:xfrm>
            <a:custGeom>
              <a:avLst/>
              <a:gdLst/>
              <a:ahLst/>
              <a:cxnLst/>
              <a:rect r="r" b="b" t="t" l="l"/>
              <a:pathLst>
                <a:path h="367188" w="599524">
                  <a:moveTo>
                    <a:pt x="57617" y="0"/>
                  </a:moveTo>
                  <a:lnTo>
                    <a:pt x="541906" y="0"/>
                  </a:lnTo>
                  <a:cubicBezTo>
                    <a:pt x="573728" y="0"/>
                    <a:pt x="599524" y="25796"/>
                    <a:pt x="599524" y="57617"/>
                  </a:cubicBezTo>
                  <a:lnTo>
                    <a:pt x="599524" y="309571"/>
                  </a:lnTo>
                  <a:cubicBezTo>
                    <a:pt x="599524" y="341392"/>
                    <a:pt x="573728" y="367188"/>
                    <a:pt x="541906" y="367188"/>
                  </a:cubicBezTo>
                  <a:lnTo>
                    <a:pt x="57617" y="367188"/>
                  </a:lnTo>
                  <a:cubicBezTo>
                    <a:pt x="25796" y="367188"/>
                    <a:pt x="0" y="341392"/>
                    <a:pt x="0" y="309571"/>
                  </a:cubicBezTo>
                  <a:lnTo>
                    <a:pt x="0" y="57617"/>
                  </a:lnTo>
                  <a:cubicBezTo>
                    <a:pt x="0" y="25796"/>
                    <a:pt x="25796" y="0"/>
                    <a:pt x="57617" y="0"/>
                  </a:cubicBezTo>
                  <a:close/>
                </a:path>
              </a:pathLst>
            </a:custGeom>
            <a:solidFill>
              <a:srgbClr val="E1EBED"/>
            </a:solidFill>
            <a:ln cap="rnd">
              <a:noFill/>
              <a:prstDash val="solid"/>
              <a:round/>
            </a:ln>
          </p:spPr>
        </p:sp>
        <p:sp>
          <p:nvSpPr>
            <p:cNvPr name="TextBox 7" id="7"/>
            <p:cNvSpPr txBox="true"/>
            <p:nvPr/>
          </p:nvSpPr>
          <p:spPr>
            <a:xfrm>
              <a:off x="0" y="-38100"/>
              <a:ext cx="599524" cy="40528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935803" y="3749138"/>
            <a:ext cx="12230394" cy="1223039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483A"/>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1135435" y="1757325"/>
            <a:ext cx="6123865" cy="6295563"/>
          </a:xfrm>
          <a:custGeom>
            <a:avLst/>
            <a:gdLst/>
            <a:ahLst/>
            <a:cxnLst/>
            <a:rect r="r" b="b" t="t" l="l"/>
            <a:pathLst>
              <a:path h="6295563" w="6123865">
                <a:moveTo>
                  <a:pt x="0" y="0"/>
                </a:moveTo>
                <a:lnTo>
                  <a:pt x="6123865" y="0"/>
                </a:lnTo>
                <a:lnTo>
                  <a:pt x="6123865" y="6295563"/>
                </a:lnTo>
                <a:lnTo>
                  <a:pt x="0" y="62955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192286" y="8271155"/>
            <a:ext cx="18672571" cy="2851811"/>
          </a:xfrm>
          <a:custGeom>
            <a:avLst/>
            <a:gdLst/>
            <a:ahLst/>
            <a:cxnLst/>
            <a:rect r="r" b="b" t="t" l="l"/>
            <a:pathLst>
              <a:path h="2851811" w="18672571">
                <a:moveTo>
                  <a:pt x="0" y="0"/>
                </a:moveTo>
                <a:lnTo>
                  <a:pt x="18672572" y="0"/>
                </a:lnTo>
                <a:lnTo>
                  <a:pt x="18672572" y="2851811"/>
                </a:lnTo>
                <a:lnTo>
                  <a:pt x="0" y="28518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2029951" y="1757325"/>
            <a:ext cx="1105104" cy="1089117"/>
          </a:xfrm>
          <a:custGeom>
            <a:avLst/>
            <a:gdLst/>
            <a:ahLst/>
            <a:cxnLst/>
            <a:rect r="r" b="b" t="t" l="l"/>
            <a:pathLst>
              <a:path h="1089117" w="1105104">
                <a:moveTo>
                  <a:pt x="0" y="0"/>
                </a:moveTo>
                <a:lnTo>
                  <a:pt x="1105104" y="0"/>
                </a:lnTo>
                <a:lnTo>
                  <a:pt x="1105104" y="1089118"/>
                </a:lnTo>
                <a:lnTo>
                  <a:pt x="0" y="1089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7796465">
            <a:off x="15510000" y="548403"/>
            <a:ext cx="2935145" cy="960593"/>
          </a:xfrm>
          <a:custGeom>
            <a:avLst/>
            <a:gdLst/>
            <a:ahLst/>
            <a:cxnLst/>
            <a:rect r="r" b="b" t="t" l="l"/>
            <a:pathLst>
              <a:path h="960593" w="2935145">
                <a:moveTo>
                  <a:pt x="0" y="0"/>
                </a:moveTo>
                <a:lnTo>
                  <a:pt x="2935146" y="0"/>
                </a:lnTo>
                <a:lnTo>
                  <a:pt x="2935146" y="960594"/>
                </a:lnTo>
                <a:lnTo>
                  <a:pt x="0" y="9605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5" id="15"/>
          <p:cNvSpPr txBox="true"/>
          <p:nvPr/>
        </p:nvSpPr>
        <p:spPr>
          <a:xfrm rot="0">
            <a:off x="2095633" y="1909725"/>
            <a:ext cx="7425096" cy="4368799"/>
          </a:xfrm>
          <a:prstGeom prst="rect">
            <a:avLst/>
          </a:prstGeom>
        </p:spPr>
        <p:txBody>
          <a:bodyPr anchor="t" rtlCol="false" tIns="0" lIns="0" bIns="0" rIns="0">
            <a:spAutoFit/>
          </a:bodyPr>
          <a:lstStyle/>
          <a:p>
            <a:pPr algn="l">
              <a:lnSpc>
                <a:spcPts val="8499"/>
              </a:lnSpc>
            </a:pPr>
            <a:r>
              <a:rPr lang="en-US" sz="8499" b="true">
                <a:solidFill>
                  <a:srgbClr val="FF7F50"/>
                </a:solidFill>
                <a:latin typeface="Neue Machina Ultra-Bold"/>
                <a:ea typeface="Neue Machina Ultra-Bold"/>
                <a:cs typeface="Neue Machina Ultra-Bold"/>
                <a:sym typeface="Neue Machina Ultra-Bold"/>
              </a:rPr>
              <a:t>MARKET</a:t>
            </a:r>
          </a:p>
          <a:p>
            <a:pPr algn="l">
              <a:lnSpc>
                <a:spcPts val="8499"/>
              </a:lnSpc>
            </a:pPr>
            <a:r>
              <a:rPr lang="en-US" sz="8499" b="true">
                <a:solidFill>
                  <a:srgbClr val="FF7F50"/>
                </a:solidFill>
                <a:latin typeface="Neue Machina Ultra-Bold"/>
                <a:ea typeface="Neue Machina Ultra-Bold"/>
                <a:cs typeface="Neue Machina Ultra-Bold"/>
                <a:sym typeface="Neue Machina Ultra-Bold"/>
              </a:rPr>
              <a:t>GROCERY ONLINE ANALYSIS</a:t>
            </a:r>
          </a:p>
        </p:txBody>
      </p:sp>
      <p:sp>
        <p:nvSpPr>
          <p:cNvPr name="TextBox 16" id="16"/>
          <p:cNvSpPr txBox="true"/>
          <p:nvPr/>
        </p:nvSpPr>
        <p:spPr>
          <a:xfrm rot="0">
            <a:off x="1829445" y="7514882"/>
            <a:ext cx="9106358" cy="1736725"/>
          </a:xfrm>
          <a:prstGeom prst="rect">
            <a:avLst/>
          </a:prstGeom>
        </p:spPr>
        <p:txBody>
          <a:bodyPr anchor="t" rtlCol="false" tIns="0" lIns="0" bIns="0" rIns="0">
            <a:spAutoFit/>
          </a:bodyPr>
          <a:lstStyle/>
          <a:p>
            <a:pPr algn="l" marL="539749" indent="-269875" lvl="1">
              <a:lnSpc>
                <a:spcPts val="3499"/>
              </a:lnSpc>
              <a:buAutoNum type="arabicPeriod" startAt="1"/>
            </a:pPr>
            <a:r>
              <a:rPr lang="en-US" sz="2499">
                <a:solidFill>
                  <a:srgbClr val="26262F"/>
                </a:solidFill>
                <a:latin typeface="Garet"/>
                <a:ea typeface="Garet"/>
                <a:cs typeface="Garet"/>
                <a:sym typeface="Garet"/>
              </a:rPr>
              <a:t>Yoga</a:t>
            </a:r>
          </a:p>
          <a:p>
            <a:pPr algn="l" marL="539749" indent="-269875" lvl="1">
              <a:lnSpc>
                <a:spcPts val="3499"/>
              </a:lnSpc>
              <a:buAutoNum type="arabicPeriod" startAt="1"/>
            </a:pPr>
            <a:r>
              <a:rPr lang="en-US" sz="2499">
                <a:solidFill>
                  <a:srgbClr val="26262F"/>
                </a:solidFill>
                <a:latin typeface="Garet"/>
                <a:ea typeface="Garet"/>
                <a:cs typeface="Garet"/>
                <a:sym typeface="Garet"/>
              </a:rPr>
              <a:t>Difa</a:t>
            </a:r>
          </a:p>
          <a:p>
            <a:pPr algn="l" marL="539749" indent="-269875" lvl="1">
              <a:lnSpc>
                <a:spcPts val="3499"/>
              </a:lnSpc>
              <a:buAutoNum type="arabicPeriod" startAt="1"/>
            </a:pPr>
            <a:r>
              <a:rPr lang="en-US" sz="2499">
                <a:solidFill>
                  <a:srgbClr val="26262F"/>
                </a:solidFill>
                <a:latin typeface="Garet"/>
                <a:ea typeface="Garet"/>
                <a:cs typeface="Garet"/>
                <a:sym typeface="Garet"/>
              </a:rPr>
              <a:t>Fajar</a:t>
            </a:r>
          </a:p>
          <a:p>
            <a:pPr algn="l">
              <a:lnSpc>
                <a:spcPts val="3499"/>
              </a:lnSpc>
            </a:pPr>
          </a:p>
        </p:txBody>
      </p:sp>
      <p:sp>
        <p:nvSpPr>
          <p:cNvPr name="Freeform 17" id="17"/>
          <p:cNvSpPr/>
          <p:nvPr/>
        </p:nvSpPr>
        <p:spPr>
          <a:xfrm flipH="false" flipV="false" rot="0">
            <a:off x="11263935" y="3220186"/>
            <a:ext cx="766015" cy="766015"/>
          </a:xfrm>
          <a:custGeom>
            <a:avLst/>
            <a:gdLst/>
            <a:ahLst/>
            <a:cxnLst/>
            <a:rect r="r" b="b" t="t" l="l"/>
            <a:pathLst>
              <a:path h="766015" w="766015">
                <a:moveTo>
                  <a:pt x="0" y="0"/>
                </a:moveTo>
                <a:lnTo>
                  <a:pt x="766016" y="0"/>
                </a:lnTo>
                <a:lnTo>
                  <a:pt x="766016" y="766016"/>
                </a:lnTo>
                <a:lnTo>
                  <a:pt x="0" y="7660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8" id="18"/>
          <p:cNvSpPr txBox="true"/>
          <p:nvPr/>
        </p:nvSpPr>
        <p:spPr>
          <a:xfrm rot="0">
            <a:off x="2095633" y="6787494"/>
            <a:ext cx="7653757" cy="596901"/>
          </a:xfrm>
          <a:prstGeom prst="rect">
            <a:avLst/>
          </a:prstGeom>
        </p:spPr>
        <p:txBody>
          <a:bodyPr anchor="t" rtlCol="false" tIns="0" lIns="0" bIns="0" rIns="0">
            <a:spAutoFit/>
          </a:bodyPr>
          <a:lstStyle/>
          <a:p>
            <a:pPr algn="l">
              <a:lnSpc>
                <a:spcPts val="4899"/>
              </a:lnSpc>
            </a:pPr>
            <a:r>
              <a:rPr lang="en-US" b="true" sz="3499">
                <a:solidFill>
                  <a:srgbClr val="2A2742"/>
                </a:solidFill>
                <a:latin typeface="Montserrat Bold"/>
                <a:ea typeface="Montserrat Bold"/>
                <a:cs typeface="Montserrat Bold"/>
                <a:sym typeface="Montserrat Bold"/>
              </a:rPr>
              <a:t>KELOMPOK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1806008" y="77989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488060"/>
            <a:ext cx="16230600" cy="7185342"/>
            <a:chOff x="0" y="0"/>
            <a:chExt cx="4274726" cy="1892436"/>
          </a:xfrm>
        </p:grpSpPr>
        <p:sp>
          <p:nvSpPr>
            <p:cNvPr name="Freeform 4" id="4"/>
            <p:cNvSpPr/>
            <p:nvPr/>
          </p:nvSpPr>
          <p:spPr>
            <a:xfrm flipH="false" flipV="false" rot="0">
              <a:off x="0" y="0"/>
              <a:ext cx="4274726" cy="1892436"/>
            </a:xfrm>
            <a:custGeom>
              <a:avLst/>
              <a:gdLst/>
              <a:ahLst/>
              <a:cxnLst/>
              <a:rect r="r" b="b" t="t" l="l"/>
              <a:pathLst>
                <a:path h="1892436" w="4274726">
                  <a:moveTo>
                    <a:pt x="0" y="0"/>
                  </a:moveTo>
                  <a:lnTo>
                    <a:pt x="4274726" y="0"/>
                  </a:lnTo>
                  <a:lnTo>
                    <a:pt x="4274726" y="1892436"/>
                  </a:lnTo>
                  <a:lnTo>
                    <a:pt x="0" y="1892436"/>
                  </a:lnTo>
                  <a:close/>
                </a:path>
              </a:pathLst>
            </a:custGeom>
            <a:solidFill>
              <a:srgbClr val="CBC4FD"/>
            </a:solidFill>
          </p:spPr>
        </p:sp>
        <p:sp>
          <p:nvSpPr>
            <p:cNvPr name="TextBox 5" id="5"/>
            <p:cNvSpPr txBox="true"/>
            <p:nvPr/>
          </p:nvSpPr>
          <p:spPr>
            <a:xfrm>
              <a:off x="0" y="-57150"/>
              <a:ext cx="4274726" cy="1949586"/>
            </a:xfrm>
            <a:prstGeom prst="rect">
              <a:avLst/>
            </a:prstGeom>
          </p:spPr>
          <p:txBody>
            <a:bodyPr anchor="ctr" rtlCol="false" tIns="50800" lIns="50800" bIns="50800" rIns="50800"/>
            <a:lstStyle/>
            <a:p>
              <a:pPr algn="ctr">
                <a:lnSpc>
                  <a:spcPts val="3450"/>
                </a:lnSpc>
              </a:pPr>
            </a:p>
          </p:txBody>
        </p:sp>
      </p:grpSp>
      <p:sp>
        <p:nvSpPr>
          <p:cNvPr name="Freeform 6" id="6"/>
          <p:cNvSpPr/>
          <p:nvPr/>
        </p:nvSpPr>
        <p:spPr>
          <a:xfrm flipH="false" flipV="false" rot="0">
            <a:off x="15979208" y="-16267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0"/>
            <a:ext cx="16466034" cy="1895570"/>
            <a:chOff x="0" y="0"/>
            <a:chExt cx="4336733" cy="499245"/>
          </a:xfrm>
        </p:grpSpPr>
        <p:sp>
          <p:nvSpPr>
            <p:cNvPr name="Freeform 8" id="8"/>
            <p:cNvSpPr/>
            <p:nvPr/>
          </p:nvSpPr>
          <p:spPr>
            <a:xfrm flipH="false" flipV="false" rot="0">
              <a:off x="0" y="0"/>
              <a:ext cx="4336733" cy="499245"/>
            </a:xfrm>
            <a:custGeom>
              <a:avLst/>
              <a:gdLst/>
              <a:ahLst/>
              <a:cxnLst/>
              <a:rect r="r" b="b" t="t" l="l"/>
              <a:pathLst>
                <a:path h="499245" w="4336733">
                  <a:moveTo>
                    <a:pt x="0" y="0"/>
                  </a:moveTo>
                  <a:lnTo>
                    <a:pt x="4336733" y="0"/>
                  </a:lnTo>
                  <a:lnTo>
                    <a:pt x="4336733" y="499245"/>
                  </a:lnTo>
                  <a:lnTo>
                    <a:pt x="0" y="499245"/>
                  </a:lnTo>
                  <a:close/>
                </a:path>
              </a:pathLst>
            </a:custGeom>
            <a:solidFill>
              <a:srgbClr val="D6483A"/>
            </a:solidFill>
          </p:spPr>
        </p:sp>
        <p:sp>
          <p:nvSpPr>
            <p:cNvPr name="TextBox 9" id="9"/>
            <p:cNvSpPr txBox="true"/>
            <p:nvPr/>
          </p:nvSpPr>
          <p:spPr>
            <a:xfrm>
              <a:off x="0" y="-57150"/>
              <a:ext cx="4336733" cy="556395"/>
            </a:xfrm>
            <a:prstGeom prst="rect">
              <a:avLst/>
            </a:prstGeom>
          </p:spPr>
          <p:txBody>
            <a:bodyPr anchor="ctr" rtlCol="false" tIns="50800" lIns="50800" bIns="50800" rIns="50800"/>
            <a:lstStyle/>
            <a:p>
              <a:pPr algn="ctr">
                <a:lnSpc>
                  <a:spcPts val="3450"/>
                </a:lnSpc>
              </a:pPr>
            </a:p>
          </p:txBody>
        </p:sp>
      </p:grpSp>
      <p:sp>
        <p:nvSpPr>
          <p:cNvPr name="TextBox 10" id="10"/>
          <p:cNvSpPr txBox="true"/>
          <p:nvPr/>
        </p:nvSpPr>
        <p:spPr>
          <a:xfrm rot="0">
            <a:off x="2721689" y="454073"/>
            <a:ext cx="12351822" cy="873125"/>
          </a:xfrm>
          <a:prstGeom prst="rect">
            <a:avLst/>
          </a:prstGeom>
        </p:spPr>
        <p:txBody>
          <a:bodyPr anchor="t" rtlCol="false" tIns="0" lIns="0" bIns="0" rIns="0">
            <a:spAutoFit/>
          </a:bodyPr>
          <a:lstStyle/>
          <a:p>
            <a:pPr algn="ctr">
              <a:lnSpc>
                <a:spcPts val="7000"/>
              </a:lnSpc>
            </a:pPr>
            <a:r>
              <a:rPr lang="en-US" b="true" sz="5000" spc="40">
                <a:solidFill>
                  <a:srgbClr val="FFFFFF"/>
                </a:solidFill>
                <a:latin typeface="Neue Machina Ultra-Bold"/>
                <a:ea typeface="Neue Machina Ultra-Bold"/>
                <a:cs typeface="Neue Machina Ultra-Bold"/>
                <a:sym typeface="Neue Machina Ultra-Bold"/>
              </a:rPr>
              <a:t>Introduction</a:t>
            </a:r>
          </a:p>
        </p:txBody>
      </p:sp>
      <p:sp>
        <p:nvSpPr>
          <p:cNvPr name="TextBox 11" id="11"/>
          <p:cNvSpPr txBox="true"/>
          <p:nvPr/>
        </p:nvSpPr>
        <p:spPr>
          <a:xfrm rot="0">
            <a:off x="1740808" y="2981137"/>
            <a:ext cx="14806384" cy="6692265"/>
          </a:xfrm>
          <a:prstGeom prst="rect">
            <a:avLst/>
          </a:prstGeom>
        </p:spPr>
        <p:txBody>
          <a:bodyPr anchor="t" rtlCol="false" tIns="0" lIns="0" bIns="0" rIns="0">
            <a:spAutoFit/>
          </a:bodyPr>
          <a:lstStyle/>
          <a:p>
            <a:pPr algn="just">
              <a:lnSpc>
                <a:spcPts val="3359"/>
              </a:lnSpc>
            </a:pPr>
            <a:r>
              <a:rPr lang="en-US" sz="2399">
                <a:solidFill>
                  <a:srgbClr val="000000"/>
                </a:solidFill>
                <a:latin typeface="Open Sauce"/>
                <a:ea typeface="Open Sauce"/>
                <a:cs typeface="Open Sauce"/>
                <a:sym typeface="Open Sauce"/>
              </a:rPr>
              <a:t>P</a:t>
            </a:r>
            <a:r>
              <a:rPr lang="en-US" sz="2399">
                <a:solidFill>
                  <a:srgbClr val="000000"/>
                </a:solidFill>
                <a:latin typeface="Open Sauce"/>
                <a:ea typeface="Open Sauce"/>
                <a:cs typeface="Open Sauce"/>
                <a:sym typeface="Open Sauce"/>
              </a:rPr>
              <a:t>erusahaan grocery online saat ini menghadapi persaingan yang semakin tinggi dalam memahami kebutuhan dan kebiasaan pelanggan. Dengan banyaknya transaksi yang terjadi setiap hari, data pelanggan menjadi sumber informasi penting untuk membantu perusahaan mengambil keputusan bisnis yang lebih efektif dan tepat sasaran.</a:t>
            </a:r>
          </a:p>
          <a:p>
            <a:pPr algn="just">
              <a:lnSpc>
                <a:spcPts val="3359"/>
              </a:lnSpc>
            </a:pPr>
          </a:p>
          <a:p>
            <a:pPr algn="just">
              <a:lnSpc>
                <a:spcPts val="3359"/>
              </a:lnSpc>
            </a:pPr>
            <a:r>
              <a:rPr lang="en-US" sz="2399">
                <a:solidFill>
                  <a:srgbClr val="000000"/>
                </a:solidFill>
                <a:latin typeface="Open Sauce"/>
                <a:ea typeface="Open Sauce"/>
                <a:cs typeface="Open Sauce"/>
                <a:sym typeface="Open Sauce"/>
              </a:rPr>
              <a:t>Melalui analisis data transaksi, perusahaan ingin memahami pola belanja pelanggan, kategori produk yang paling diminati, perilaku repeat order (reorder), serta waktu di mana customer paling aktif melakukan pembelian. Informasi tersebut dapat memberikan insight mengenai preferensi pelanggan dan kebiasaan konsumsi mereka dalam berbelanja kebutuhan sehari-hari secara online.</a:t>
            </a:r>
          </a:p>
          <a:p>
            <a:pPr algn="just">
              <a:lnSpc>
                <a:spcPts val="3359"/>
              </a:lnSpc>
            </a:pPr>
          </a:p>
          <a:p>
            <a:pPr algn="just">
              <a:lnSpc>
                <a:spcPts val="3359"/>
              </a:lnSpc>
            </a:pPr>
            <a:r>
              <a:rPr lang="en-US" sz="2399">
                <a:solidFill>
                  <a:srgbClr val="000000"/>
                </a:solidFill>
                <a:latin typeface="Open Sauce"/>
                <a:ea typeface="Open Sauce"/>
                <a:cs typeface="Open Sauce"/>
                <a:sym typeface="Open Sauce"/>
              </a:rPr>
              <a:t>Analisis ini bertujuan untuk membantu perusahaan dalam meningkatkan penjualan, meningkatkan customer retention, mengoptimalkan pengelolaan stok dan strategi promosi, serta memahami customer behavior secara lebih mendalam. Dengan memahami pola dan perilaku pelanggan, perusahaan dapat menciptakan strategi bisnis yang lebih efisien, personal, dan berorientasi pada kebutuhan customer.</a:t>
            </a:r>
          </a:p>
          <a:p>
            <a:pPr algn="just">
              <a:lnSpc>
                <a:spcPts val="3359"/>
              </a:lnSpc>
            </a:pPr>
          </a:p>
        </p:txBody>
      </p:sp>
      <p:grpSp>
        <p:nvGrpSpPr>
          <p:cNvPr name="Group 12" id="12"/>
          <p:cNvGrpSpPr/>
          <p:nvPr/>
        </p:nvGrpSpPr>
        <p:grpSpPr>
          <a:xfrm rot="0">
            <a:off x="15319911" y="9630178"/>
            <a:ext cx="3967416" cy="656822"/>
            <a:chOff x="0" y="0"/>
            <a:chExt cx="1044916" cy="172990"/>
          </a:xfrm>
        </p:grpSpPr>
        <p:sp>
          <p:nvSpPr>
            <p:cNvPr name="Freeform 13" id="13"/>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4" id="14"/>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5" id="15"/>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15979208" y="-153136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0"/>
            <a:ext cx="16693668" cy="1792777"/>
            <a:chOff x="0" y="0"/>
            <a:chExt cx="4396686" cy="472172"/>
          </a:xfrm>
        </p:grpSpPr>
        <p:sp>
          <p:nvSpPr>
            <p:cNvPr name="Freeform 4" id="4"/>
            <p:cNvSpPr/>
            <p:nvPr/>
          </p:nvSpPr>
          <p:spPr>
            <a:xfrm flipH="false" flipV="false" rot="0">
              <a:off x="0" y="0"/>
              <a:ext cx="4396686" cy="472172"/>
            </a:xfrm>
            <a:custGeom>
              <a:avLst/>
              <a:gdLst/>
              <a:ahLst/>
              <a:cxnLst/>
              <a:rect r="r" b="b" t="t" l="l"/>
              <a:pathLst>
                <a:path h="472172" w="4396686">
                  <a:moveTo>
                    <a:pt x="0" y="0"/>
                  </a:moveTo>
                  <a:lnTo>
                    <a:pt x="4396686" y="0"/>
                  </a:lnTo>
                  <a:lnTo>
                    <a:pt x="4396686" y="472172"/>
                  </a:lnTo>
                  <a:lnTo>
                    <a:pt x="0" y="472172"/>
                  </a:lnTo>
                  <a:close/>
                </a:path>
              </a:pathLst>
            </a:custGeom>
            <a:solidFill>
              <a:srgbClr val="CBC4FD"/>
            </a:solidFill>
          </p:spPr>
        </p:sp>
        <p:sp>
          <p:nvSpPr>
            <p:cNvPr name="TextBox 5" id="5"/>
            <p:cNvSpPr txBox="true"/>
            <p:nvPr/>
          </p:nvSpPr>
          <p:spPr>
            <a:xfrm>
              <a:off x="0" y="-57150"/>
              <a:ext cx="4396686" cy="529322"/>
            </a:xfrm>
            <a:prstGeom prst="rect">
              <a:avLst/>
            </a:prstGeom>
          </p:spPr>
          <p:txBody>
            <a:bodyPr anchor="ctr" rtlCol="false" tIns="50800" lIns="50800" bIns="50800" rIns="50800"/>
            <a:lstStyle/>
            <a:p>
              <a:pPr algn="ctr">
                <a:lnSpc>
                  <a:spcPts val="3450"/>
                </a:lnSpc>
              </a:pPr>
            </a:p>
          </p:txBody>
        </p:sp>
      </p:grpSp>
      <p:sp>
        <p:nvSpPr>
          <p:cNvPr name="Freeform 6" id="6"/>
          <p:cNvSpPr/>
          <p:nvPr/>
        </p:nvSpPr>
        <p:spPr>
          <a:xfrm flipH="false" flipV="false" rot="0">
            <a:off x="-1806008" y="77989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543275" y="284389"/>
            <a:ext cx="12351822" cy="873125"/>
          </a:xfrm>
          <a:prstGeom prst="rect">
            <a:avLst/>
          </a:prstGeom>
        </p:spPr>
        <p:txBody>
          <a:bodyPr anchor="t" rtlCol="false" tIns="0" lIns="0" bIns="0" rIns="0">
            <a:spAutoFit/>
          </a:bodyPr>
          <a:lstStyle/>
          <a:p>
            <a:pPr algn="ctr">
              <a:lnSpc>
                <a:spcPts val="7000"/>
              </a:lnSpc>
            </a:pPr>
            <a:r>
              <a:rPr lang="en-US" b="true" sz="5000" spc="40">
                <a:solidFill>
                  <a:srgbClr val="26262F"/>
                </a:solidFill>
                <a:latin typeface="Neue Machina Ultra-Bold"/>
                <a:ea typeface="Neue Machina Ultra-Bold"/>
                <a:cs typeface="Neue Machina Ultra-Bold"/>
                <a:sym typeface="Neue Machina Ultra-Bold"/>
              </a:rPr>
              <a:t>Business Understanding</a:t>
            </a:r>
          </a:p>
        </p:txBody>
      </p:sp>
      <p:grpSp>
        <p:nvGrpSpPr>
          <p:cNvPr name="Group 8" id="8"/>
          <p:cNvGrpSpPr/>
          <p:nvPr/>
        </p:nvGrpSpPr>
        <p:grpSpPr>
          <a:xfrm rot="0">
            <a:off x="2308792" y="2452914"/>
            <a:ext cx="13670416" cy="1930742"/>
            <a:chOff x="0" y="0"/>
            <a:chExt cx="3856874" cy="544726"/>
          </a:xfrm>
        </p:grpSpPr>
        <p:sp>
          <p:nvSpPr>
            <p:cNvPr name="Freeform 9" id="9"/>
            <p:cNvSpPr/>
            <p:nvPr/>
          </p:nvSpPr>
          <p:spPr>
            <a:xfrm flipH="false" flipV="false" rot="0">
              <a:off x="0" y="0"/>
              <a:ext cx="3856874" cy="544726"/>
            </a:xfrm>
            <a:custGeom>
              <a:avLst/>
              <a:gdLst/>
              <a:ahLst/>
              <a:cxnLst/>
              <a:rect r="r" b="b" t="t" l="l"/>
              <a:pathLst>
                <a:path h="544726" w="3856874">
                  <a:moveTo>
                    <a:pt x="0" y="0"/>
                  </a:moveTo>
                  <a:lnTo>
                    <a:pt x="3856874" y="0"/>
                  </a:lnTo>
                  <a:lnTo>
                    <a:pt x="3856874" y="544726"/>
                  </a:lnTo>
                  <a:lnTo>
                    <a:pt x="0" y="544726"/>
                  </a:lnTo>
                  <a:close/>
                </a:path>
              </a:pathLst>
            </a:custGeom>
            <a:solidFill>
              <a:srgbClr val="B5D6B0"/>
            </a:solidFill>
          </p:spPr>
        </p:sp>
        <p:sp>
          <p:nvSpPr>
            <p:cNvPr name="TextBox 10" id="10"/>
            <p:cNvSpPr txBox="true"/>
            <p:nvPr/>
          </p:nvSpPr>
          <p:spPr>
            <a:xfrm>
              <a:off x="0" y="-57150"/>
              <a:ext cx="3856874" cy="601876"/>
            </a:xfrm>
            <a:prstGeom prst="rect">
              <a:avLst/>
            </a:prstGeom>
          </p:spPr>
          <p:txBody>
            <a:bodyPr anchor="ctr" rtlCol="false" tIns="50800" lIns="50800" bIns="50800" rIns="50800"/>
            <a:lstStyle/>
            <a:p>
              <a:pPr algn="ctr">
                <a:lnSpc>
                  <a:spcPts val="3450"/>
                </a:lnSpc>
              </a:pPr>
            </a:p>
          </p:txBody>
        </p:sp>
      </p:grpSp>
      <p:grpSp>
        <p:nvGrpSpPr>
          <p:cNvPr name="Group 11" id="11"/>
          <p:cNvGrpSpPr/>
          <p:nvPr/>
        </p:nvGrpSpPr>
        <p:grpSpPr>
          <a:xfrm rot="0">
            <a:off x="2308792" y="4736081"/>
            <a:ext cx="13670416" cy="2115755"/>
            <a:chOff x="0" y="0"/>
            <a:chExt cx="3856874" cy="596924"/>
          </a:xfrm>
        </p:grpSpPr>
        <p:sp>
          <p:nvSpPr>
            <p:cNvPr name="Freeform 12" id="12"/>
            <p:cNvSpPr/>
            <p:nvPr/>
          </p:nvSpPr>
          <p:spPr>
            <a:xfrm flipH="false" flipV="false" rot="0">
              <a:off x="0" y="0"/>
              <a:ext cx="3856874" cy="596924"/>
            </a:xfrm>
            <a:custGeom>
              <a:avLst/>
              <a:gdLst/>
              <a:ahLst/>
              <a:cxnLst/>
              <a:rect r="r" b="b" t="t" l="l"/>
              <a:pathLst>
                <a:path h="596924" w="3856874">
                  <a:moveTo>
                    <a:pt x="0" y="0"/>
                  </a:moveTo>
                  <a:lnTo>
                    <a:pt x="3856874" y="0"/>
                  </a:lnTo>
                  <a:lnTo>
                    <a:pt x="3856874" y="596924"/>
                  </a:lnTo>
                  <a:lnTo>
                    <a:pt x="0" y="596924"/>
                  </a:lnTo>
                  <a:close/>
                </a:path>
              </a:pathLst>
            </a:custGeom>
            <a:solidFill>
              <a:srgbClr val="B5D6B0"/>
            </a:solidFill>
          </p:spPr>
        </p:sp>
        <p:sp>
          <p:nvSpPr>
            <p:cNvPr name="TextBox 13" id="13"/>
            <p:cNvSpPr txBox="true"/>
            <p:nvPr/>
          </p:nvSpPr>
          <p:spPr>
            <a:xfrm>
              <a:off x="0" y="-57150"/>
              <a:ext cx="3856874" cy="654074"/>
            </a:xfrm>
            <a:prstGeom prst="rect">
              <a:avLst/>
            </a:prstGeom>
          </p:spPr>
          <p:txBody>
            <a:bodyPr anchor="ctr" rtlCol="false" tIns="50800" lIns="50800" bIns="50800" rIns="50800"/>
            <a:lstStyle/>
            <a:p>
              <a:pPr algn="ctr">
                <a:lnSpc>
                  <a:spcPts val="3450"/>
                </a:lnSpc>
              </a:pPr>
            </a:p>
          </p:txBody>
        </p:sp>
      </p:grpSp>
      <p:grpSp>
        <p:nvGrpSpPr>
          <p:cNvPr name="Group 14" id="14"/>
          <p:cNvGrpSpPr/>
          <p:nvPr/>
        </p:nvGrpSpPr>
        <p:grpSpPr>
          <a:xfrm rot="0">
            <a:off x="2308792" y="7208375"/>
            <a:ext cx="13670416" cy="2349963"/>
            <a:chOff x="0" y="0"/>
            <a:chExt cx="3856874" cy="663002"/>
          </a:xfrm>
        </p:grpSpPr>
        <p:sp>
          <p:nvSpPr>
            <p:cNvPr name="Freeform 15" id="15"/>
            <p:cNvSpPr/>
            <p:nvPr/>
          </p:nvSpPr>
          <p:spPr>
            <a:xfrm flipH="false" flipV="false" rot="0">
              <a:off x="0" y="0"/>
              <a:ext cx="3856874" cy="663002"/>
            </a:xfrm>
            <a:custGeom>
              <a:avLst/>
              <a:gdLst/>
              <a:ahLst/>
              <a:cxnLst/>
              <a:rect r="r" b="b" t="t" l="l"/>
              <a:pathLst>
                <a:path h="663002" w="3856874">
                  <a:moveTo>
                    <a:pt x="0" y="0"/>
                  </a:moveTo>
                  <a:lnTo>
                    <a:pt x="3856874" y="0"/>
                  </a:lnTo>
                  <a:lnTo>
                    <a:pt x="3856874" y="663002"/>
                  </a:lnTo>
                  <a:lnTo>
                    <a:pt x="0" y="663002"/>
                  </a:lnTo>
                  <a:close/>
                </a:path>
              </a:pathLst>
            </a:custGeom>
            <a:solidFill>
              <a:srgbClr val="B5D6B0"/>
            </a:solidFill>
          </p:spPr>
        </p:sp>
        <p:sp>
          <p:nvSpPr>
            <p:cNvPr name="TextBox 16" id="16"/>
            <p:cNvSpPr txBox="true"/>
            <p:nvPr/>
          </p:nvSpPr>
          <p:spPr>
            <a:xfrm>
              <a:off x="0" y="-57150"/>
              <a:ext cx="3856874" cy="720152"/>
            </a:xfrm>
            <a:prstGeom prst="rect">
              <a:avLst/>
            </a:prstGeom>
          </p:spPr>
          <p:txBody>
            <a:bodyPr anchor="ctr" rtlCol="false" tIns="50800" lIns="50800" bIns="50800" rIns="50800"/>
            <a:lstStyle/>
            <a:p>
              <a:pPr algn="ctr">
                <a:lnSpc>
                  <a:spcPts val="3450"/>
                </a:lnSpc>
              </a:pPr>
            </a:p>
          </p:txBody>
        </p:sp>
      </p:grpSp>
      <p:sp>
        <p:nvSpPr>
          <p:cNvPr name="TextBox 17" id="17"/>
          <p:cNvSpPr txBox="true"/>
          <p:nvPr/>
        </p:nvSpPr>
        <p:spPr>
          <a:xfrm rot="0">
            <a:off x="2858342" y="2971988"/>
            <a:ext cx="12571317" cy="1153795"/>
          </a:xfrm>
          <a:prstGeom prst="rect">
            <a:avLst/>
          </a:prstGeom>
        </p:spPr>
        <p:txBody>
          <a:bodyPr anchor="t" rtlCol="false" tIns="0" lIns="0" bIns="0" rIns="0">
            <a:spAutoFit/>
          </a:bodyPr>
          <a:lstStyle/>
          <a:p>
            <a:pPr algn="just">
              <a:lnSpc>
                <a:spcPts val="3079"/>
              </a:lnSpc>
            </a:pPr>
            <a:r>
              <a:rPr lang="en-US" sz="2199">
                <a:solidFill>
                  <a:srgbClr val="000000"/>
                </a:solidFill>
                <a:latin typeface="Open Sauce"/>
                <a:ea typeface="Open Sauce"/>
                <a:cs typeface="Open Sauce"/>
                <a:sym typeface="Open Sauce"/>
              </a:rPr>
              <a:t>Perusahaan belum memahami pola perilaku customer dalam berbelanja, seperti waktu belanja paling ramai, produk yang paling diminati, serta tingkat loyalitas customer melalui reorder. Akibatnya, strategi promosi, pengelolaan stok, dan pelayanan belum optimal.</a:t>
            </a:r>
          </a:p>
        </p:txBody>
      </p:sp>
      <p:sp>
        <p:nvSpPr>
          <p:cNvPr name="TextBox 18" id="18"/>
          <p:cNvSpPr txBox="true"/>
          <p:nvPr/>
        </p:nvSpPr>
        <p:spPr>
          <a:xfrm rot="0">
            <a:off x="6195954" y="2470868"/>
            <a:ext cx="5896092" cy="461016"/>
          </a:xfrm>
          <a:prstGeom prst="rect">
            <a:avLst/>
          </a:prstGeom>
        </p:spPr>
        <p:txBody>
          <a:bodyPr anchor="t" rtlCol="false" tIns="0" lIns="0" bIns="0" rIns="0">
            <a:spAutoFit/>
          </a:bodyPr>
          <a:lstStyle/>
          <a:p>
            <a:pPr algn="ctr">
              <a:lnSpc>
                <a:spcPts val="3714"/>
              </a:lnSpc>
            </a:pPr>
            <a:r>
              <a:rPr lang="en-US" b="true" sz="2653" spc="21">
                <a:solidFill>
                  <a:srgbClr val="000000"/>
                </a:solidFill>
                <a:latin typeface="Neue Machina Ultra-Bold"/>
                <a:ea typeface="Neue Machina Ultra-Bold"/>
                <a:cs typeface="Neue Machina Ultra-Bold"/>
                <a:sym typeface="Neue Machina Ultra-Bold"/>
              </a:rPr>
              <a:t>Problem</a:t>
            </a:r>
          </a:p>
        </p:txBody>
      </p:sp>
      <p:sp>
        <p:nvSpPr>
          <p:cNvPr name="TextBox 19" id="19"/>
          <p:cNvSpPr txBox="true"/>
          <p:nvPr/>
        </p:nvSpPr>
        <p:spPr>
          <a:xfrm rot="0">
            <a:off x="2858342" y="5383533"/>
            <a:ext cx="12571317" cy="1153795"/>
          </a:xfrm>
          <a:prstGeom prst="rect">
            <a:avLst/>
          </a:prstGeom>
        </p:spPr>
        <p:txBody>
          <a:bodyPr anchor="t" rtlCol="false" tIns="0" lIns="0" bIns="0" rIns="0">
            <a:spAutoFit/>
          </a:bodyPr>
          <a:lstStyle/>
          <a:p>
            <a:pPr algn="just">
              <a:lnSpc>
                <a:spcPts val="3079"/>
              </a:lnSpc>
            </a:pPr>
            <a:r>
              <a:rPr lang="en-US" sz="2199">
                <a:solidFill>
                  <a:srgbClr val="000000"/>
                </a:solidFill>
                <a:latin typeface="Open Sauce"/>
                <a:ea typeface="Open Sauce"/>
                <a:cs typeface="Open Sauce"/>
                <a:sym typeface="Open Sauce"/>
              </a:rPr>
              <a:t>Membantu perusahaan memahami perilaku customer agar dapat meningkatkan penjualan, mengoptimalkan strategi pemasaran, serta meningkatkan customer retention melalui analisis pola transaksi dan reorder.</a:t>
            </a:r>
          </a:p>
        </p:txBody>
      </p:sp>
      <p:sp>
        <p:nvSpPr>
          <p:cNvPr name="TextBox 20" id="20"/>
          <p:cNvSpPr txBox="true"/>
          <p:nvPr/>
        </p:nvSpPr>
        <p:spPr>
          <a:xfrm rot="0">
            <a:off x="6195954" y="4884417"/>
            <a:ext cx="5896092" cy="461016"/>
          </a:xfrm>
          <a:prstGeom prst="rect">
            <a:avLst/>
          </a:prstGeom>
        </p:spPr>
        <p:txBody>
          <a:bodyPr anchor="t" rtlCol="false" tIns="0" lIns="0" bIns="0" rIns="0">
            <a:spAutoFit/>
          </a:bodyPr>
          <a:lstStyle/>
          <a:p>
            <a:pPr algn="ctr">
              <a:lnSpc>
                <a:spcPts val="3714"/>
              </a:lnSpc>
            </a:pPr>
            <a:r>
              <a:rPr lang="en-US" b="true" sz="2653" spc="21">
                <a:solidFill>
                  <a:srgbClr val="000000"/>
                </a:solidFill>
                <a:latin typeface="Neue Machina Ultra-Bold"/>
                <a:ea typeface="Neue Machina Ultra-Bold"/>
                <a:cs typeface="Neue Machina Ultra-Bold"/>
                <a:sym typeface="Neue Machina Ultra-Bold"/>
              </a:rPr>
              <a:t>Goals</a:t>
            </a:r>
          </a:p>
        </p:txBody>
      </p:sp>
      <p:sp>
        <p:nvSpPr>
          <p:cNvPr name="TextBox 21" id="21"/>
          <p:cNvSpPr txBox="true"/>
          <p:nvPr/>
        </p:nvSpPr>
        <p:spPr>
          <a:xfrm rot="0">
            <a:off x="2858342" y="7832612"/>
            <a:ext cx="12571317" cy="1153795"/>
          </a:xfrm>
          <a:prstGeom prst="rect">
            <a:avLst/>
          </a:prstGeom>
        </p:spPr>
        <p:txBody>
          <a:bodyPr anchor="t" rtlCol="false" tIns="0" lIns="0" bIns="0" rIns="0">
            <a:spAutoFit/>
          </a:bodyPr>
          <a:lstStyle/>
          <a:p>
            <a:pPr algn="just">
              <a:lnSpc>
                <a:spcPts val="3079"/>
              </a:lnSpc>
            </a:pPr>
            <a:r>
              <a:rPr lang="en-US" sz="2199">
                <a:solidFill>
                  <a:srgbClr val="000000"/>
                </a:solidFill>
                <a:latin typeface="Open Sauce"/>
                <a:ea typeface="Open Sauce"/>
                <a:cs typeface="Open Sauce"/>
                <a:sym typeface="Open Sauce"/>
              </a:rPr>
              <a:t>Menganalisis jam dan hari paling sibuk untuk belanja, mengidentifikasi produk terlaris dan produk dengan reorder tertinggi, memahami aktivitas customer, serta membandingkan perilaku pembelian berdasarkan kategori produk dan reorder behavior.</a:t>
            </a:r>
          </a:p>
        </p:txBody>
      </p:sp>
      <p:sp>
        <p:nvSpPr>
          <p:cNvPr name="TextBox 22" id="22"/>
          <p:cNvSpPr txBox="true"/>
          <p:nvPr/>
        </p:nvSpPr>
        <p:spPr>
          <a:xfrm rot="0">
            <a:off x="6195954" y="7333496"/>
            <a:ext cx="5896092" cy="461016"/>
          </a:xfrm>
          <a:prstGeom prst="rect">
            <a:avLst/>
          </a:prstGeom>
        </p:spPr>
        <p:txBody>
          <a:bodyPr anchor="t" rtlCol="false" tIns="0" lIns="0" bIns="0" rIns="0">
            <a:spAutoFit/>
          </a:bodyPr>
          <a:lstStyle/>
          <a:p>
            <a:pPr algn="ctr">
              <a:lnSpc>
                <a:spcPts val="3714"/>
              </a:lnSpc>
            </a:pPr>
            <a:r>
              <a:rPr lang="en-US" b="true" sz="2653" spc="21">
                <a:solidFill>
                  <a:srgbClr val="000000"/>
                </a:solidFill>
                <a:latin typeface="Neue Machina Ultra-Bold"/>
                <a:ea typeface="Neue Machina Ultra-Bold"/>
                <a:cs typeface="Neue Machina Ultra-Bold"/>
                <a:sym typeface="Neue Machina Ultra-Bold"/>
              </a:rPr>
              <a:t>Objective</a:t>
            </a:r>
          </a:p>
        </p:txBody>
      </p:sp>
      <p:grpSp>
        <p:nvGrpSpPr>
          <p:cNvPr name="Group 23" id="23"/>
          <p:cNvGrpSpPr/>
          <p:nvPr/>
        </p:nvGrpSpPr>
        <p:grpSpPr>
          <a:xfrm rot="0">
            <a:off x="15319911" y="9630178"/>
            <a:ext cx="3967416" cy="656822"/>
            <a:chOff x="0" y="0"/>
            <a:chExt cx="1044916" cy="172990"/>
          </a:xfrm>
        </p:grpSpPr>
        <p:sp>
          <p:nvSpPr>
            <p:cNvPr name="Freeform 24" id="24"/>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25" id="25"/>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26" id="26"/>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9534099" y="3824712"/>
            <a:ext cx="6005150" cy="5275711"/>
          </a:xfrm>
          <a:custGeom>
            <a:avLst/>
            <a:gdLst/>
            <a:ahLst/>
            <a:cxnLst/>
            <a:rect r="r" b="b" t="t" l="l"/>
            <a:pathLst>
              <a:path h="5275711" w="6005150">
                <a:moveTo>
                  <a:pt x="0" y="0"/>
                </a:moveTo>
                <a:lnTo>
                  <a:pt x="6005150" y="0"/>
                </a:lnTo>
                <a:lnTo>
                  <a:pt x="6005150" y="5275711"/>
                </a:lnTo>
                <a:lnTo>
                  <a:pt x="0" y="5275711"/>
                </a:lnTo>
                <a:lnTo>
                  <a:pt x="0" y="0"/>
                </a:lnTo>
                <a:close/>
              </a:path>
            </a:pathLst>
          </a:custGeom>
          <a:blipFill>
            <a:blip r:embed="rId2"/>
            <a:stretch>
              <a:fillRect l="0" t="0" r="0" b="0"/>
            </a:stretch>
          </a:blipFill>
        </p:spPr>
      </p:sp>
      <p:sp>
        <p:nvSpPr>
          <p:cNvPr name="Freeform 3" id="3"/>
          <p:cNvSpPr/>
          <p:nvPr/>
        </p:nvSpPr>
        <p:spPr>
          <a:xfrm flipH="false" flipV="false" rot="0">
            <a:off x="-1806008" y="77989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65741" y="4532196"/>
            <a:ext cx="7601756" cy="3860743"/>
          </a:xfrm>
          <a:custGeom>
            <a:avLst/>
            <a:gdLst/>
            <a:ahLst/>
            <a:cxnLst/>
            <a:rect r="r" b="b" t="t" l="l"/>
            <a:pathLst>
              <a:path h="3860743" w="7601756">
                <a:moveTo>
                  <a:pt x="0" y="0"/>
                </a:moveTo>
                <a:lnTo>
                  <a:pt x="7601756" y="0"/>
                </a:lnTo>
                <a:lnTo>
                  <a:pt x="7601756" y="3860743"/>
                </a:lnTo>
                <a:lnTo>
                  <a:pt x="0" y="3860743"/>
                </a:lnTo>
                <a:lnTo>
                  <a:pt x="0" y="0"/>
                </a:lnTo>
                <a:close/>
              </a:path>
            </a:pathLst>
          </a:custGeom>
          <a:blipFill>
            <a:blip r:embed="rId5"/>
            <a:stretch>
              <a:fillRect l="0" t="0" r="-1365" b="0"/>
            </a:stretch>
          </a:blipFill>
        </p:spPr>
      </p:sp>
      <p:sp>
        <p:nvSpPr>
          <p:cNvPr name="Freeform 5" id="5"/>
          <p:cNvSpPr/>
          <p:nvPr/>
        </p:nvSpPr>
        <p:spPr>
          <a:xfrm flipH="false" flipV="false" rot="0">
            <a:off x="15979208" y="-153136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265741" y="2057616"/>
            <a:ext cx="14713467" cy="1348080"/>
          </a:xfrm>
          <a:prstGeom prst="rect">
            <a:avLst/>
          </a:prstGeom>
        </p:spPr>
        <p:txBody>
          <a:bodyPr anchor="t" rtlCol="false" tIns="0" lIns="0" bIns="0" rIns="0">
            <a:spAutoFit/>
          </a:bodyPr>
          <a:lstStyle/>
          <a:p>
            <a:pPr algn="just">
              <a:lnSpc>
                <a:spcPts val="3620"/>
              </a:lnSpc>
            </a:pPr>
            <a:r>
              <a:rPr lang="en-US" sz="2299">
                <a:solidFill>
                  <a:srgbClr val="2A2742"/>
                </a:solidFill>
                <a:latin typeface="Open Sauce"/>
                <a:ea typeface="Open Sauce"/>
                <a:cs typeface="Open Sauce"/>
                <a:sym typeface="Open Sauce"/>
              </a:rPr>
              <a:t>Dataset</a:t>
            </a:r>
            <a:r>
              <a:rPr lang="en-US" sz="2299">
                <a:solidFill>
                  <a:srgbClr val="2A2742"/>
                </a:solidFill>
                <a:latin typeface="Open Sauce"/>
                <a:ea typeface="Open Sauce"/>
                <a:cs typeface="Open Sauce"/>
                <a:sym typeface="Open Sauce"/>
              </a:rPr>
              <a:t> grocery online berisi informasi mengenai transaksi pelanggan, produk yang dibeli, waktu pembelian, serta perilaku reorder customer. Analisis dilakukan untuk memahami pola belanja pelanggan dan menghasilkan insight bisnis yang dapat membantu pengambilan keputusan perusahaan.</a:t>
            </a:r>
          </a:p>
        </p:txBody>
      </p:sp>
      <p:grpSp>
        <p:nvGrpSpPr>
          <p:cNvPr name="Group 7" id="7"/>
          <p:cNvGrpSpPr/>
          <p:nvPr/>
        </p:nvGrpSpPr>
        <p:grpSpPr>
          <a:xfrm rot="0">
            <a:off x="0" y="0"/>
            <a:ext cx="16693668" cy="1792777"/>
            <a:chOff x="0" y="0"/>
            <a:chExt cx="4396686" cy="472172"/>
          </a:xfrm>
        </p:grpSpPr>
        <p:sp>
          <p:nvSpPr>
            <p:cNvPr name="Freeform 8" id="8"/>
            <p:cNvSpPr/>
            <p:nvPr/>
          </p:nvSpPr>
          <p:spPr>
            <a:xfrm flipH="false" flipV="false" rot="0">
              <a:off x="0" y="0"/>
              <a:ext cx="4396686" cy="472172"/>
            </a:xfrm>
            <a:custGeom>
              <a:avLst/>
              <a:gdLst/>
              <a:ahLst/>
              <a:cxnLst/>
              <a:rect r="r" b="b" t="t" l="l"/>
              <a:pathLst>
                <a:path h="472172" w="4396686">
                  <a:moveTo>
                    <a:pt x="0" y="0"/>
                  </a:moveTo>
                  <a:lnTo>
                    <a:pt x="4396686" y="0"/>
                  </a:lnTo>
                  <a:lnTo>
                    <a:pt x="4396686" y="472172"/>
                  </a:lnTo>
                  <a:lnTo>
                    <a:pt x="0" y="472172"/>
                  </a:lnTo>
                  <a:close/>
                </a:path>
              </a:pathLst>
            </a:custGeom>
            <a:solidFill>
              <a:srgbClr val="CBC4FD"/>
            </a:solidFill>
          </p:spPr>
        </p:sp>
        <p:sp>
          <p:nvSpPr>
            <p:cNvPr name="TextBox 9" id="9"/>
            <p:cNvSpPr txBox="true"/>
            <p:nvPr/>
          </p:nvSpPr>
          <p:spPr>
            <a:xfrm>
              <a:off x="0" y="-57150"/>
              <a:ext cx="4396686" cy="529322"/>
            </a:xfrm>
            <a:prstGeom prst="rect">
              <a:avLst/>
            </a:prstGeom>
          </p:spPr>
          <p:txBody>
            <a:bodyPr anchor="ctr" rtlCol="false" tIns="50800" lIns="50800" bIns="50800" rIns="50800"/>
            <a:lstStyle/>
            <a:p>
              <a:pPr algn="ctr">
                <a:lnSpc>
                  <a:spcPts val="3450"/>
                </a:lnSpc>
              </a:pPr>
            </a:p>
          </p:txBody>
        </p:sp>
      </p:grpSp>
      <p:sp>
        <p:nvSpPr>
          <p:cNvPr name="TextBox 10" id="10"/>
          <p:cNvSpPr txBox="true"/>
          <p:nvPr/>
        </p:nvSpPr>
        <p:spPr>
          <a:xfrm rot="0">
            <a:off x="1265741" y="411736"/>
            <a:ext cx="6386964" cy="873125"/>
          </a:xfrm>
          <a:prstGeom prst="rect">
            <a:avLst/>
          </a:prstGeom>
        </p:spPr>
        <p:txBody>
          <a:bodyPr anchor="t" rtlCol="false" tIns="0" lIns="0" bIns="0" rIns="0">
            <a:spAutoFit/>
          </a:bodyPr>
          <a:lstStyle/>
          <a:p>
            <a:pPr algn="l">
              <a:lnSpc>
                <a:spcPts val="7000"/>
              </a:lnSpc>
            </a:pPr>
            <a:r>
              <a:rPr lang="en-US" b="true" sz="5000" spc="40">
                <a:solidFill>
                  <a:srgbClr val="231971"/>
                </a:solidFill>
                <a:latin typeface="Neue Machina Ultra-Bold"/>
                <a:ea typeface="Neue Machina Ultra-Bold"/>
                <a:cs typeface="Neue Machina Ultra-Bold"/>
                <a:sym typeface="Neue Machina Ultra-Bold"/>
              </a:rPr>
              <a:t>Dataset Overview</a:t>
            </a:r>
          </a:p>
        </p:txBody>
      </p:sp>
      <p:sp>
        <p:nvSpPr>
          <p:cNvPr name="TextBox 11" id="11"/>
          <p:cNvSpPr txBox="true"/>
          <p:nvPr/>
        </p:nvSpPr>
        <p:spPr>
          <a:xfrm rot="0">
            <a:off x="10665453" y="9191625"/>
            <a:ext cx="4365879" cy="347904"/>
          </a:xfrm>
          <a:prstGeom prst="rect">
            <a:avLst/>
          </a:prstGeom>
        </p:spPr>
        <p:txBody>
          <a:bodyPr anchor="t" rtlCol="false" tIns="0" lIns="0" bIns="0" rIns="0">
            <a:spAutoFit/>
          </a:bodyPr>
          <a:lstStyle/>
          <a:p>
            <a:pPr algn="l">
              <a:lnSpc>
                <a:spcPts val="2990"/>
              </a:lnSpc>
            </a:pPr>
            <a:r>
              <a:rPr lang="en-US" b="true" sz="1899">
                <a:solidFill>
                  <a:srgbClr val="2A2742"/>
                </a:solidFill>
                <a:latin typeface="Open Sauce Bold"/>
                <a:ea typeface="Open Sauce Bold"/>
                <a:cs typeface="Open Sauce Bold"/>
                <a:sym typeface="Open Sauce Bold"/>
              </a:rPr>
              <a:t>Dataset</a:t>
            </a:r>
            <a:r>
              <a:rPr lang="en-US" b="true" sz="1899">
                <a:solidFill>
                  <a:srgbClr val="2A2742"/>
                </a:solidFill>
                <a:latin typeface="Open Sauce Bold"/>
                <a:ea typeface="Open Sauce Bold"/>
                <a:cs typeface="Open Sauce Bold"/>
                <a:sym typeface="Open Sauce Bold"/>
              </a:rPr>
              <a:t> sudah dilakukan JOIN</a:t>
            </a:r>
          </a:p>
        </p:txBody>
      </p:sp>
      <p:sp>
        <p:nvSpPr>
          <p:cNvPr name="TextBox 12" id="12"/>
          <p:cNvSpPr txBox="true"/>
          <p:nvPr/>
        </p:nvSpPr>
        <p:spPr>
          <a:xfrm rot="0">
            <a:off x="2749307" y="8568972"/>
            <a:ext cx="4365879" cy="347904"/>
          </a:xfrm>
          <a:prstGeom prst="rect">
            <a:avLst/>
          </a:prstGeom>
        </p:spPr>
        <p:txBody>
          <a:bodyPr anchor="t" rtlCol="false" tIns="0" lIns="0" bIns="0" rIns="0">
            <a:spAutoFit/>
          </a:bodyPr>
          <a:lstStyle/>
          <a:p>
            <a:pPr algn="l">
              <a:lnSpc>
                <a:spcPts val="2990"/>
              </a:lnSpc>
            </a:pPr>
            <a:r>
              <a:rPr lang="en-US" b="true" sz="1899">
                <a:solidFill>
                  <a:srgbClr val="2A2742"/>
                </a:solidFill>
                <a:latin typeface="Open Sauce Bold"/>
                <a:ea typeface="Open Sauce Bold"/>
                <a:cs typeface="Open Sauce Bold"/>
                <a:sym typeface="Open Sauce Bold"/>
              </a:rPr>
              <a:t>Dataset</a:t>
            </a:r>
            <a:r>
              <a:rPr lang="en-US" b="true" sz="1899">
                <a:solidFill>
                  <a:srgbClr val="2A2742"/>
                </a:solidFill>
                <a:latin typeface="Open Sauce Bold"/>
                <a:ea typeface="Open Sauce Bold"/>
                <a:cs typeface="Open Sauce Bold"/>
                <a:sym typeface="Open Sauce Bold"/>
              </a:rPr>
              <a:t> terdiri dari 5 tabel utama</a:t>
            </a:r>
          </a:p>
        </p:txBody>
      </p:sp>
      <p:grpSp>
        <p:nvGrpSpPr>
          <p:cNvPr name="Group 13" id="13"/>
          <p:cNvGrpSpPr/>
          <p:nvPr/>
        </p:nvGrpSpPr>
        <p:grpSpPr>
          <a:xfrm rot="0">
            <a:off x="15319911" y="9630178"/>
            <a:ext cx="3967416" cy="656822"/>
            <a:chOff x="0" y="0"/>
            <a:chExt cx="1044916" cy="172990"/>
          </a:xfrm>
        </p:grpSpPr>
        <p:sp>
          <p:nvSpPr>
            <p:cNvPr name="Freeform 14" id="14"/>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5" id="15"/>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6" id="16"/>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1806008" y="77989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926835"/>
            <a:ext cx="16230600" cy="8360165"/>
            <a:chOff x="0" y="0"/>
            <a:chExt cx="4274726" cy="2201854"/>
          </a:xfrm>
        </p:grpSpPr>
        <p:sp>
          <p:nvSpPr>
            <p:cNvPr name="Freeform 4" id="4"/>
            <p:cNvSpPr/>
            <p:nvPr/>
          </p:nvSpPr>
          <p:spPr>
            <a:xfrm flipH="false" flipV="false" rot="0">
              <a:off x="0" y="0"/>
              <a:ext cx="4274726" cy="2201854"/>
            </a:xfrm>
            <a:custGeom>
              <a:avLst/>
              <a:gdLst/>
              <a:ahLst/>
              <a:cxnLst/>
              <a:rect r="r" b="b" t="t" l="l"/>
              <a:pathLst>
                <a:path h="2201854" w="4274726">
                  <a:moveTo>
                    <a:pt x="0" y="0"/>
                  </a:moveTo>
                  <a:lnTo>
                    <a:pt x="4274726" y="0"/>
                  </a:lnTo>
                  <a:lnTo>
                    <a:pt x="4274726" y="2201854"/>
                  </a:lnTo>
                  <a:lnTo>
                    <a:pt x="0" y="2201854"/>
                  </a:lnTo>
                  <a:close/>
                </a:path>
              </a:pathLst>
            </a:custGeom>
            <a:solidFill>
              <a:srgbClr val="B5D6B0"/>
            </a:solidFill>
          </p:spPr>
        </p:sp>
        <p:sp>
          <p:nvSpPr>
            <p:cNvPr name="TextBox 5" id="5"/>
            <p:cNvSpPr txBox="true"/>
            <p:nvPr/>
          </p:nvSpPr>
          <p:spPr>
            <a:xfrm>
              <a:off x="0" y="-57150"/>
              <a:ext cx="4274726" cy="2259004"/>
            </a:xfrm>
            <a:prstGeom prst="rect">
              <a:avLst/>
            </a:prstGeom>
          </p:spPr>
          <p:txBody>
            <a:bodyPr anchor="ctr" rtlCol="false" tIns="50800" lIns="50800" bIns="50800" rIns="50800"/>
            <a:lstStyle/>
            <a:p>
              <a:pPr algn="ctr">
                <a:lnSpc>
                  <a:spcPts val="3450"/>
                </a:lnSpc>
              </a:pPr>
            </a:p>
          </p:txBody>
        </p:sp>
      </p:grpSp>
      <p:sp>
        <p:nvSpPr>
          <p:cNvPr name="Freeform 6" id="6"/>
          <p:cNvSpPr/>
          <p:nvPr/>
        </p:nvSpPr>
        <p:spPr>
          <a:xfrm flipH="false" flipV="false" rot="0">
            <a:off x="15979208" y="-16267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659830" y="2694940"/>
            <a:ext cx="7807545" cy="6951345"/>
          </a:xfrm>
          <a:prstGeom prst="rect">
            <a:avLst/>
          </a:prstGeom>
        </p:spPr>
        <p:txBody>
          <a:bodyPr anchor="t" rtlCol="false" tIns="0" lIns="0" bIns="0" rIns="0">
            <a:spAutoFit/>
          </a:bodyPr>
          <a:lstStyle/>
          <a:p>
            <a:pPr algn="just" marL="561341" indent="-280670" lvl="1">
              <a:lnSpc>
                <a:spcPts val="3640"/>
              </a:lnSpc>
              <a:buFont typeface="Arial"/>
              <a:buChar char="•"/>
            </a:pPr>
            <a:r>
              <a:rPr lang="en-US" b="true" sz="2600">
                <a:solidFill>
                  <a:srgbClr val="000000"/>
                </a:solidFill>
                <a:latin typeface="Open Sauce Bold"/>
                <a:ea typeface="Open Sauce Bold"/>
                <a:cs typeface="Open Sauce Bold"/>
                <a:sym typeface="Open Sauce Bold"/>
              </a:rPr>
              <a:t>Customer Activity</a:t>
            </a:r>
          </a:p>
          <a:p>
            <a:pPr algn="just">
              <a:lnSpc>
                <a:spcPts val="3080"/>
              </a:lnSpc>
            </a:pPr>
            <a:r>
              <a:rPr lang="en-US" sz="2200">
                <a:solidFill>
                  <a:srgbClr val="000000"/>
                </a:solidFill>
                <a:latin typeface="Open Sauce"/>
                <a:ea typeface="Open Sauce"/>
                <a:cs typeface="Open Sauce"/>
                <a:sym typeface="Open Sauce"/>
              </a:rPr>
              <a:t>Digunakan untuk mengukur seberapa aktif customer menggunakan platform grocery online dalam melakukan transaksi.</a:t>
            </a:r>
          </a:p>
          <a:p>
            <a:pPr algn="just">
              <a:lnSpc>
                <a:spcPts val="3080"/>
              </a:lnSpc>
            </a:pPr>
            <a:r>
              <a:rPr lang="en-US" sz="2200">
                <a:solidFill>
                  <a:srgbClr val="000000"/>
                </a:solidFill>
                <a:latin typeface="Open Sauce"/>
                <a:ea typeface="Open Sauce"/>
                <a:cs typeface="Open Sauce"/>
                <a:sym typeface="Open Sauce"/>
              </a:rPr>
              <a:t>Tujuan Bisnis</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Memahami pola aktivitas customer.</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Mengetahui kapan customer paling aktif berbelanja.</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Mengoptimalkan operasional dan promosi.</a:t>
            </a:r>
          </a:p>
          <a:p>
            <a:pPr algn="just">
              <a:lnSpc>
                <a:spcPts val="3919"/>
              </a:lnSpc>
            </a:pPr>
          </a:p>
          <a:p>
            <a:pPr algn="just" marL="561341" indent="-280670" lvl="1">
              <a:lnSpc>
                <a:spcPts val="3640"/>
              </a:lnSpc>
              <a:buFont typeface="Arial"/>
              <a:buChar char="•"/>
            </a:pPr>
            <a:r>
              <a:rPr lang="en-US" b="true" sz="2600">
                <a:solidFill>
                  <a:srgbClr val="000000"/>
                </a:solidFill>
                <a:latin typeface="Open Sauce Bold"/>
                <a:ea typeface="Open Sauce Bold"/>
                <a:cs typeface="Open Sauce Bold"/>
                <a:sym typeface="Open Sauce Bold"/>
              </a:rPr>
              <a:t>Product Performance</a:t>
            </a:r>
          </a:p>
          <a:p>
            <a:pPr algn="just">
              <a:lnSpc>
                <a:spcPts val="3080"/>
              </a:lnSpc>
            </a:pPr>
            <a:r>
              <a:rPr lang="en-US" sz="2200">
                <a:solidFill>
                  <a:srgbClr val="000000"/>
                </a:solidFill>
                <a:latin typeface="Open Sauce"/>
                <a:ea typeface="Open Sauce"/>
                <a:cs typeface="Open Sauce"/>
                <a:sym typeface="Open Sauce"/>
              </a:rPr>
              <a:t>D</a:t>
            </a:r>
            <a:r>
              <a:rPr lang="en-US" sz="2200">
                <a:solidFill>
                  <a:srgbClr val="000000"/>
                </a:solidFill>
                <a:latin typeface="Open Sauce"/>
                <a:ea typeface="Open Sauce"/>
                <a:cs typeface="Open Sauce"/>
                <a:sym typeface="Open Sauce"/>
              </a:rPr>
              <a:t>igunakan untuk mengukur performa produk berdasarkan jumlah pembelian dan popularitas produk.</a:t>
            </a:r>
          </a:p>
          <a:p>
            <a:pPr algn="just">
              <a:lnSpc>
                <a:spcPts val="3080"/>
              </a:lnSpc>
            </a:pPr>
            <a:r>
              <a:rPr lang="en-US" sz="2200">
                <a:solidFill>
                  <a:srgbClr val="000000"/>
                </a:solidFill>
                <a:latin typeface="Open Sauce"/>
                <a:ea typeface="Open Sauce"/>
                <a:cs typeface="Open Sauce"/>
                <a:sym typeface="Open Sauce"/>
              </a:rPr>
              <a:t>Tujuan Bisnis</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Mengetahui produk paling diminati customer.</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Menentukan produk utama bisnis.</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Mengoptimalkan inventory dan strategi pemasaran.</a:t>
            </a:r>
          </a:p>
          <a:p>
            <a:pPr algn="just">
              <a:lnSpc>
                <a:spcPts val="3919"/>
              </a:lnSpc>
            </a:pPr>
          </a:p>
        </p:txBody>
      </p:sp>
      <p:grpSp>
        <p:nvGrpSpPr>
          <p:cNvPr name="Group 8" id="8"/>
          <p:cNvGrpSpPr/>
          <p:nvPr/>
        </p:nvGrpSpPr>
        <p:grpSpPr>
          <a:xfrm rot="0">
            <a:off x="0" y="0"/>
            <a:ext cx="16466034" cy="1458444"/>
            <a:chOff x="0" y="0"/>
            <a:chExt cx="4336733" cy="384117"/>
          </a:xfrm>
        </p:grpSpPr>
        <p:sp>
          <p:nvSpPr>
            <p:cNvPr name="Freeform 9" id="9"/>
            <p:cNvSpPr/>
            <p:nvPr/>
          </p:nvSpPr>
          <p:spPr>
            <a:xfrm flipH="false" flipV="false" rot="0">
              <a:off x="0" y="0"/>
              <a:ext cx="4336733" cy="384117"/>
            </a:xfrm>
            <a:custGeom>
              <a:avLst/>
              <a:gdLst/>
              <a:ahLst/>
              <a:cxnLst/>
              <a:rect r="r" b="b" t="t" l="l"/>
              <a:pathLst>
                <a:path h="384117" w="4336733">
                  <a:moveTo>
                    <a:pt x="0" y="0"/>
                  </a:moveTo>
                  <a:lnTo>
                    <a:pt x="4336733" y="0"/>
                  </a:lnTo>
                  <a:lnTo>
                    <a:pt x="4336733" y="384117"/>
                  </a:lnTo>
                  <a:lnTo>
                    <a:pt x="0" y="384117"/>
                  </a:lnTo>
                  <a:close/>
                </a:path>
              </a:pathLst>
            </a:custGeom>
            <a:solidFill>
              <a:srgbClr val="ECF284"/>
            </a:solidFill>
          </p:spPr>
        </p:sp>
        <p:sp>
          <p:nvSpPr>
            <p:cNvPr name="TextBox 10" id="10"/>
            <p:cNvSpPr txBox="true"/>
            <p:nvPr/>
          </p:nvSpPr>
          <p:spPr>
            <a:xfrm>
              <a:off x="0" y="-57150"/>
              <a:ext cx="4336733" cy="441267"/>
            </a:xfrm>
            <a:prstGeom prst="rect">
              <a:avLst/>
            </a:prstGeom>
          </p:spPr>
          <p:txBody>
            <a:bodyPr anchor="ctr" rtlCol="false" tIns="50800" lIns="50800" bIns="50800" rIns="50800"/>
            <a:lstStyle/>
            <a:p>
              <a:pPr algn="ctr">
                <a:lnSpc>
                  <a:spcPts val="3450"/>
                </a:lnSpc>
              </a:pPr>
            </a:p>
          </p:txBody>
        </p:sp>
      </p:grpSp>
      <p:sp>
        <p:nvSpPr>
          <p:cNvPr name="TextBox 11" id="11"/>
          <p:cNvSpPr txBox="true"/>
          <p:nvPr/>
        </p:nvSpPr>
        <p:spPr>
          <a:xfrm rot="0">
            <a:off x="2968089" y="316360"/>
            <a:ext cx="12351822" cy="873125"/>
          </a:xfrm>
          <a:prstGeom prst="rect">
            <a:avLst/>
          </a:prstGeom>
        </p:spPr>
        <p:txBody>
          <a:bodyPr anchor="t" rtlCol="false" tIns="0" lIns="0" bIns="0" rIns="0">
            <a:spAutoFit/>
          </a:bodyPr>
          <a:lstStyle/>
          <a:p>
            <a:pPr algn="ctr">
              <a:lnSpc>
                <a:spcPts val="7000"/>
              </a:lnSpc>
            </a:pPr>
            <a:r>
              <a:rPr lang="en-US" b="true" sz="5000" spc="40">
                <a:solidFill>
                  <a:srgbClr val="000000"/>
                </a:solidFill>
                <a:latin typeface="Neue Machina Ultra-Bold"/>
                <a:ea typeface="Neue Machina Ultra-Bold"/>
                <a:cs typeface="Neue Machina Ultra-Bold"/>
                <a:sym typeface="Neue Machina Ultra-Bold"/>
              </a:rPr>
              <a:t>Business Metric</a:t>
            </a:r>
          </a:p>
        </p:txBody>
      </p:sp>
      <p:grpSp>
        <p:nvGrpSpPr>
          <p:cNvPr name="Group 12" id="12"/>
          <p:cNvGrpSpPr/>
          <p:nvPr/>
        </p:nvGrpSpPr>
        <p:grpSpPr>
          <a:xfrm rot="0">
            <a:off x="15319911" y="9630178"/>
            <a:ext cx="3967416" cy="656822"/>
            <a:chOff x="0" y="0"/>
            <a:chExt cx="1044916" cy="172990"/>
          </a:xfrm>
        </p:grpSpPr>
        <p:sp>
          <p:nvSpPr>
            <p:cNvPr name="Freeform 13" id="13"/>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4" id="14"/>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5" id="15"/>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
        <p:nvSpPr>
          <p:cNvPr name="TextBox 16" id="16"/>
          <p:cNvSpPr txBox="true"/>
          <p:nvPr/>
        </p:nvSpPr>
        <p:spPr>
          <a:xfrm rot="0">
            <a:off x="10142783" y="2694940"/>
            <a:ext cx="6485387" cy="7592060"/>
          </a:xfrm>
          <a:prstGeom prst="rect">
            <a:avLst/>
          </a:prstGeom>
        </p:spPr>
        <p:txBody>
          <a:bodyPr anchor="t" rtlCol="false" tIns="0" lIns="0" bIns="0" rIns="0">
            <a:spAutoFit/>
          </a:bodyPr>
          <a:lstStyle/>
          <a:p>
            <a:pPr algn="just" marL="561341" indent="-280670" lvl="1">
              <a:lnSpc>
                <a:spcPts val="3640"/>
              </a:lnSpc>
              <a:buFont typeface="Arial"/>
              <a:buChar char="•"/>
            </a:pPr>
            <a:r>
              <a:rPr lang="en-US" b="true" sz="2600">
                <a:solidFill>
                  <a:srgbClr val="000000"/>
                </a:solidFill>
                <a:latin typeface="Open Sauce Bold"/>
                <a:ea typeface="Open Sauce Bold"/>
                <a:cs typeface="Open Sauce Bold"/>
                <a:sym typeface="Open Sauce Bold"/>
              </a:rPr>
              <a:t>Custom</a:t>
            </a:r>
            <a:r>
              <a:rPr lang="en-US" b="true" sz="2600">
                <a:solidFill>
                  <a:srgbClr val="000000"/>
                </a:solidFill>
                <a:latin typeface="Open Sauce Bold"/>
                <a:ea typeface="Open Sauce Bold"/>
                <a:cs typeface="Open Sauce Bold"/>
                <a:sym typeface="Open Sauce Bold"/>
              </a:rPr>
              <a:t>er Loyalty</a:t>
            </a:r>
          </a:p>
          <a:p>
            <a:pPr algn="just">
              <a:lnSpc>
                <a:spcPts val="3080"/>
              </a:lnSpc>
            </a:pPr>
            <a:r>
              <a:rPr lang="en-US" sz="2200">
                <a:solidFill>
                  <a:srgbClr val="000000"/>
                </a:solidFill>
                <a:latin typeface="Open Sauce"/>
                <a:ea typeface="Open Sauce"/>
                <a:cs typeface="Open Sauce"/>
                <a:sym typeface="Open Sauce"/>
              </a:rPr>
              <a:t>Untuk mengukur tingkat loyalitas customer berdasarkan perilaku pembelian ulang (reorder).</a:t>
            </a:r>
          </a:p>
          <a:p>
            <a:pPr algn="just">
              <a:lnSpc>
                <a:spcPts val="3080"/>
              </a:lnSpc>
            </a:pPr>
            <a:r>
              <a:rPr lang="en-US" sz="2200">
                <a:solidFill>
                  <a:srgbClr val="000000"/>
                </a:solidFill>
                <a:latin typeface="Open Sauce"/>
                <a:ea typeface="Open Sauce"/>
                <a:cs typeface="Open Sauce"/>
                <a:sym typeface="Open Sauce"/>
              </a:rPr>
              <a:t>Tujuan Bisnis</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Mengetahui apakah customer kembali membeli produk yang sama.</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Mengukur customer retention.</a:t>
            </a:r>
          </a:p>
          <a:p>
            <a:pPr algn="just">
              <a:lnSpc>
                <a:spcPts val="3080"/>
              </a:lnSpc>
            </a:pPr>
          </a:p>
          <a:p>
            <a:pPr algn="just">
              <a:lnSpc>
                <a:spcPts val="3080"/>
              </a:lnSpc>
            </a:pPr>
          </a:p>
          <a:p>
            <a:pPr algn="just" marL="561341" indent="-280670" lvl="1">
              <a:lnSpc>
                <a:spcPts val="3640"/>
              </a:lnSpc>
              <a:buFont typeface="Arial"/>
              <a:buChar char="•"/>
            </a:pPr>
            <a:r>
              <a:rPr lang="en-US" b="true" sz="2600">
                <a:solidFill>
                  <a:srgbClr val="000000"/>
                </a:solidFill>
                <a:latin typeface="Open Sauce Bold"/>
                <a:ea typeface="Open Sauce Bold"/>
                <a:cs typeface="Open Sauce Bold"/>
                <a:sym typeface="Open Sauce Bold"/>
              </a:rPr>
              <a:t>Customer Preference</a:t>
            </a:r>
          </a:p>
          <a:p>
            <a:pPr algn="just">
              <a:lnSpc>
                <a:spcPts val="3080"/>
              </a:lnSpc>
            </a:pPr>
            <a:r>
              <a:rPr lang="en-US" sz="2200">
                <a:solidFill>
                  <a:srgbClr val="000000"/>
                </a:solidFill>
                <a:latin typeface="Open Sauce"/>
                <a:ea typeface="Open Sauce"/>
                <a:cs typeface="Open Sauce"/>
                <a:sym typeface="Open Sauce"/>
              </a:rPr>
              <a:t>Untuk memahami preferensi atau kecenderungan customer terhadap jenis produk tertentu.</a:t>
            </a:r>
          </a:p>
          <a:p>
            <a:pPr algn="just">
              <a:lnSpc>
                <a:spcPts val="3080"/>
              </a:lnSpc>
            </a:pPr>
            <a:r>
              <a:rPr lang="en-US" sz="2200">
                <a:solidFill>
                  <a:srgbClr val="000000"/>
                </a:solidFill>
                <a:latin typeface="Open Sauce"/>
                <a:ea typeface="Open Sauce"/>
                <a:cs typeface="Open Sauce"/>
                <a:sym typeface="Open Sauce"/>
              </a:rPr>
              <a:t>Tujuan Bisnis</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Mengetahui produk yang paling disukai customer.</a:t>
            </a:r>
          </a:p>
          <a:p>
            <a:pPr algn="just" marL="474983" indent="-237491" lvl="1">
              <a:lnSpc>
                <a:spcPts val="3080"/>
              </a:lnSpc>
              <a:buFont typeface="Arial"/>
              <a:buChar char="•"/>
            </a:pPr>
            <a:r>
              <a:rPr lang="en-US" sz="2200">
                <a:solidFill>
                  <a:srgbClr val="000000"/>
                </a:solidFill>
                <a:latin typeface="Open Sauce"/>
                <a:ea typeface="Open Sauce"/>
                <a:cs typeface="Open Sauce"/>
                <a:sym typeface="Open Sauce"/>
              </a:rPr>
              <a:t>Memahami pola konsumsi customer.</a:t>
            </a:r>
          </a:p>
          <a:p>
            <a:pPr algn="just">
              <a:lnSpc>
                <a:spcPts val="3080"/>
              </a:lnSpc>
            </a:pPr>
          </a:p>
          <a:p>
            <a:pPr algn="just">
              <a:lnSpc>
                <a:spcPts val="36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735079" y="2806669"/>
            <a:ext cx="6783022" cy="5475557"/>
          </a:xfrm>
          <a:custGeom>
            <a:avLst/>
            <a:gdLst/>
            <a:ahLst/>
            <a:cxnLst/>
            <a:rect r="r" b="b" t="t" l="l"/>
            <a:pathLst>
              <a:path h="5475557" w="6783022">
                <a:moveTo>
                  <a:pt x="0" y="0"/>
                </a:moveTo>
                <a:lnTo>
                  <a:pt x="6783022" y="0"/>
                </a:lnTo>
                <a:lnTo>
                  <a:pt x="6783022" y="5475557"/>
                </a:lnTo>
                <a:lnTo>
                  <a:pt x="0" y="5475557"/>
                </a:lnTo>
                <a:lnTo>
                  <a:pt x="0" y="0"/>
                </a:lnTo>
                <a:close/>
              </a:path>
            </a:pathLst>
          </a:custGeom>
          <a:blipFill>
            <a:blip r:embed="rId2"/>
            <a:stretch>
              <a:fillRect l="0" t="0" r="0" b="0"/>
            </a:stretch>
          </a:blipFill>
        </p:spPr>
      </p:sp>
      <p:sp>
        <p:nvSpPr>
          <p:cNvPr name="Freeform 3" id="3"/>
          <p:cNvSpPr/>
          <p:nvPr/>
        </p:nvSpPr>
        <p:spPr>
          <a:xfrm flipH="false" flipV="false" rot="0">
            <a:off x="8467465" y="2806669"/>
            <a:ext cx="9284259" cy="5187580"/>
          </a:xfrm>
          <a:custGeom>
            <a:avLst/>
            <a:gdLst/>
            <a:ahLst/>
            <a:cxnLst/>
            <a:rect r="r" b="b" t="t" l="l"/>
            <a:pathLst>
              <a:path h="5187580" w="9284259">
                <a:moveTo>
                  <a:pt x="0" y="0"/>
                </a:moveTo>
                <a:lnTo>
                  <a:pt x="9284259" y="0"/>
                </a:lnTo>
                <a:lnTo>
                  <a:pt x="9284259" y="5187579"/>
                </a:lnTo>
                <a:lnTo>
                  <a:pt x="0" y="5187579"/>
                </a:lnTo>
                <a:lnTo>
                  <a:pt x="0" y="0"/>
                </a:lnTo>
                <a:close/>
              </a:path>
            </a:pathLst>
          </a:custGeom>
          <a:blipFill>
            <a:blip r:embed="rId3"/>
            <a:stretch>
              <a:fillRect l="0" t="0" r="0" b="0"/>
            </a:stretch>
          </a:blipFill>
        </p:spPr>
      </p:sp>
      <p:sp>
        <p:nvSpPr>
          <p:cNvPr name="TextBox 4" id="4"/>
          <p:cNvSpPr txBox="true"/>
          <p:nvPr/>
        </p:nvSpPr>
        <p:spPr>
          <a:xfrm rot="0">
            <a:off x="735079" y="1768212"/>
            <a:ext cx="5896092" cy="923206"/>
          </a:xfrm>
          <a:prstGeom prst="rect">
            <a:avLst/>
          </a:prstGeom>
        </p:spPr>
        <p:txBody>
          <a:bodyPr anchor="t" rtlCol="false" tIns="0" lIns="0" bIns="0" rIns="0">
            <a:spAutoFit/>
          </a:bodyPr>
          <a:lstStyle/>
          <a:p>
            <a:pPr algn="l" marL="572849" indent="-286424" lvl="1">
              <a:lnSpc>
                <a:spcPts val="3714"/>
              </a:lnSpc>
              <a:buAutoNum type="arabicPeriod" startAt="1"/>
            </a:pPr>
            <a:r>
              <a:rPr lang="en-US" b="true" sz="2653" spc="21">
                <a:solidFill>
                  <a:srgbClr val="000000"/>
                </a:solidFill>
                <a:latin typeface="Neue Machina Ultra-Bold"/>
                <a:ea typeface="Neue Machina Ultra-Bold"/>
                <a:cs typeface="Neue Machina Ultra-Bold"/>
                <a:sym typeface="Neue Machina Ultra-Bold"/>
              </a:rPr>
              <a:t> Hari Paling Ramai untuk Belanja</a:t>
            </a:r>
          </a:p>
        </p:txBody>
      </p:sp>
      <p:sp>
        <p:nvSpPr>
          <p:cNvPr name="TextBox 5" id="5"/>
          <p:cNvSpPr txBox="true"/>
          <p:nvPr/>
        </p:nvSpPr>
        <p:spPr>
          <a:xfrm rot="0">
            <a:off x="9188514" y="1768212"/>
            <a:ext cx="5896092" cy="923206"/>
          </a:xfrm>
          <a:prstGeom prst="rect">
            <a:avLst/>
          </a:prstGeom>
        </p:spPr>
        <p:txBody>
          <a:bodyPr anchor="t" rtlCol="false" tIns="0" lIns="0" bIns="0" rIns="0">
            <a:spAutoFit/>
          </a:bodyPr>
          <a:lstStyle/>
          <a:p>
            <a:pPr algn="l" marL="572849" indent="-286424" lvl="1">
              <a:lnSpc>
                <a:spcPts val="3714"/>
              </a:lnSpc>
              <a:buAutoNum type="arabicPeriod" startAt="1"/>
            </a:pPr>
            <a:r>
              <a:rPr lang="en-US" b="true" sz="2653" spc="21">
                <a:solidFill>
                  <a:srgbClr val="000000"/>
                </a:solidFill>
                <a:latin typeface="Neue Machina Ultra-Bold"/>
                <a:ea typeface="Neue Machina Ultra-Bold"/>
                <a:cs typeface="Neue Machina Ultra-Bold"/>
                <a:sym typeface="Neue Machina Ultra-Bold"/>
              </a:rPr>
              <a:t>Rata-Rata Customer Melakukan Re-order</a:t>
            </a:r>
          </a:p>
        </p:txBody>
      </p:sp>
      <p:sp>
        <p:nvSpPr>
          <p:cNvPr name="Freeform 6" id="6"/>
          <p:cNvSpPr/>
          <p:nvPr/>
        </p:nvSpPr>
        <p:spPr>
          <a:xfrm flipH="false" flipV="false" rot="0">
            <a:off x="15979208" y="-16267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0" y="0"/>
            <a:ext cx="16466034" cy="1416083"/>
            <a:chOff x="0" y="0"/>
            <a:chExt cx="4336733" cy="372960"/>
          </a:xfrm>
        </p:grpSpPr>
        <p:sp>
          <p:nvSpPr>
            <p:cNvPr name="Freeform 8" id="8"/>
            <p:cNvSpPr/>
            <p:nvPr/>
          </p:nvSpPr>
          <p:spPr>
            <a:xfrm flipH="false" flipV="false" rot="0">
              <a:off x="0" y="0"/>
              <a:ext cx="4336733" cy="372960"/>
            </a:xfrm>
            <a:custGeom>
              <a:avLst/>
              <a:gdLst/>
              <a:ahLst/>
              <a:cxnLst/>
              <a:rect r="r" b="b" t="t" l="l"/>
              <a:pathLst>
                <a:path h="372960" w="4336733">
                  <a:moveTo>
                    <a:pt x="0" y="0"/>
                  </a:moveTo>
                  <a:lnTo>
                    <a:pt x="4336733" y="0"/>
                  </a:lnTo>
                  <a:lnTo>
                    <a:pt x="4336733" y="372960"/>
                  </a:lnTo>
                  <a:lnTo>
                    <a:pt x="0" y="372960"/>
                  </a:lnTo>
                  <a:close/>
                </a:path>
              </a:pathLst>
            </a:custGeom>
            <a:solidFill>
              <a:srgbClr val="CBC4FD"/>
            </a:solidFill>
          </p:spPr>
        </p:sp>
        <p:sp>
          <p:nvSpPr>
            <p:cNvPr name="TextBox 9" id="9"/>
            <p:cNvSpPr txBox="true"/>
            <p:nvPr/>
          </p:nvSpPr>
          <p:spPr>
            <a:xfrm>
              <a:off x="0" y="-57150"/>
              <a:ext cx="4336733" cy="430110"/>
            </a:xfrm>
            <a:prstGeom prst="rect">
              <a:avLst/>
            </a:prstGeom>
          </p:spPr>
          <p:txBody>
            <a:bodyPr anchor="ctr" rtlCol="false" tIns="50800" lIns="50800" bIns="50800" rIns="50800"/>
            <a:lstStyle/>
            <a:p>
              <a:pPr algn="ctr">
                <a:lnSpc>
                  <a:spcPts val="3450"/>
                </a:lnSpc>
              </a:pPr>
            </a:p>
          </p:txBody>
        </p:sp>
      </p:grpSp>
      <p:sp>
        <p:nvSpPr>
          <p:cNvPr name="TextBox 10" id="10"/>
          <p:cNvSpPr txBox="true"/>
          <p:nvPr/>
        </p:nvSpPr>
        <p:spPr>
          <a:xfrm rot="0">
            <a:off x="2459699" y="267215"/>
            <a:ext cx="13368602" cy="873125"/>
          </a:xfrm>
          <a:prstGeom prst="rect">
            <a:avLst/>
          </a:prstGeom>
        </p:spPr>
        <p:txBody>
          <a:bodyPr anchor="t" rtlCol="false" tIns="0" lIns="0" bIns="0" rIns="0">
            <a:spAutoFit/>
          </a:bodyPr>
          <a:lstStyle/>
          <a:p>
            <a:pPr algn="ctr">
              <a:lnSpc>
                <a:spcPts val="7000"/>
              </a:lnSpc>
            </a:pPr>
            <a:r>
              <a:rPr lang="en-US" b="true" sz="5000" spc="40">
                <a:solidFill>
                  <a:srgbClr val="231971"/>
                </a:solidFill>
                <a:latin typeface="Neue Machina Ultra-Bold"/>
                <a:ea typeface="Neue Machina Ultra-Bold"/>
                <a:cs typeface="Neue Machina Ultra-Bold"/>
                <a:sym typeface="Neue Machina Ultra-Bold"/>
              </a:rPr>
              <a:t>Analysis Menggunakan Matpotlib</a:t>
            </a:r>
          </a:p>
        </p:txBody>
      </p:sp>
      <p:sp>
        <p:nvSpPr>
          <p:cNvPr name="TextBox 11" id="11"/>
          <p:cNvSpPr txBox="true"/>
          <p:nvPr/>
        </p:nvSpPr>
        <p:spPr>
          <a:xfrm rot="0">
            <a:off x="1055242" y="8369065"/>
            <a:ext cx="6624952" cy="2052828"/>
          </a:xfrm>
          <a:prstGeom prst="rect">
            <a:avLst/>
          </a:prstGeom>
        </p:spPr>
        <p:txBody>
          <a:bodyPr anchor="t" rtlCol="false" tIns="0" lIns="0" bIns="0" rIns="0">
            <a:spAutoFit/>
          </a:bodyPr>
          <a:lstStyle/>
          <a:p>
            <a:pPr algn="l">
              <a:lnSpc>
                <a:spcPts val="2360"/>
              </a:lnSpc>
            </a:pPr>
            <a:r>
              <a:rPr lang="en-US" sz="1499">
                <a:solidFill>
                  <a:srgbClr val="2A2742"/>
                </a:solidFill>
                <a:latin typeface="Montserrat"/>
                <a:ea typeface="Montserrat"/>
                <a:cs typeface="Montserrat"/>
                <a:sym typeface="Montserrat"/>
              </a:rPr>
              <a:t>I</a:t>
            </a:r>
            <a:r>
              <a:rPr lang="en-US" sz="1499">
                <a:solidFill>
                  <a:srgbClr val="2A2742"/>
                </a:solidFill>
                <a:latin typeface="Montserrat"/>
                <a:ea typeface="Montserrat"/>
                <a:cs typeface="Montserrat"/>
                <a:sym typeface="Montserrat"/>
              </a:rPr>
              <a:t>nsight</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Hari 0 (Minggu) memiliki trans</a:t>
            </a:r>
            <a:r>
              <a:rPr lang="en-US" sz="1499">
                <a:solidFill>
                  <a:srgbClr val="2A2742"/>
                </a:solidFill>
                <a:latin typeface="Montserrat"/>
                <a:ea typeface="Montserrat"/>
                <a:cs typeface="Montserrat"/>
                <a:sym typeface="Montserrat"/>
              </a:rPr>
              <a:t>aksi tertinggi.</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Banyak pelanggan berbelanj</a:t>
            </a:r>
            <a:r>
              <a:rPr lang="en-US" sz="1499">
                <a:solidFill>
                  <a:srgbClr val="2A2742"/>
                </a:solidFill>
                <a:latin typeface="Montserrat"/>
                <a:ea typeface="Montserrat"/>
                <a:cs typeface="Montserrat"/>
                <a:sym typeface="Montserrat"/>
              </a:rPr>
              <a:t>a saat a</a:t>
            </a:r>
            <a:r>
              <a:rPr lang="en-US" sz="1499">
                <a:solidFill>
                  <a:srgbClr val="2A2742"/>
                </a:solidFill>
                <a:latin typeface="Montserrat"/>
                <a:ea typeface="Montserrat"/>
                <a:cs typeface="Montserrat"/>
                <a:sym typeface="Montserrat"/>
              </a:rPr>
              <a:t>khir pekan.</a:t>
            </a:r>
          </a:p>
          <a:p>
            <a:pPr algn="l">
              <a:lnSpc>
                <a:spcPts val="2360"/>
              </a:lnSpc>
            </a:pPr>
            <a:r>
              <a:rPr lang="en-US" sz="1499">
                <a:solidFill>
                  <a:srgbClr val="2A2742"/>
                </a:solidFill>
                <a:latin typeface="Montserrat"/>
                <a:ea typeface="Montserrat"/>
                <a:cs typeface="Montserrat"/>
                <a:sym typeface="Montserrat"/>
              </a:rPr>
              <a:t>Rekomendasi</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Tambah stok menjelang akhir pekan.</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Jalankan promo weekend.</a:t>
            </a:r>
          </a:p>
          <a:p>
            <a:pPr algn="l">
              <a:lnSpc>
                <a:spcPts val="2360"/>
              </a:lnSpc>
            </a:pPr>
          </a:p>
        </p:txBody>
      </p:sp>
      <p:sp>
        <p:nvSpPr>
          <p:cNvPr name="TextBox 12" id="12"/>
          <p:cNvSpPr txBox="true"/>
          <p:nvPr/>
        </p:nvSpPr>
        <p:spPr>
          <a:xfrm rot="0">
            <a:off x="9034782" y="8338262"/>
            <a:ext cx="8149624" cy="1757553"/>
          </a:xfrm>
          <a:prstGeom prst="rect">
            <a:avLst/>
          </a:prstGeom>
        </p:spPr>
        <p:txBody>
          <a:bodyPr anchor="t" rtlCol="false" tIns="0" lIns="0" bIns="0" rIns="0">
            <a:spAutoFit/>
          </a:bodyPr>
          <a:lstStyle/>
          <a:p>
            <a:pPr algn="l">
              <a:lnSpc>
                <a:spcPts val="2360"/>
              </a:lnSpc>
            </a:pPr>
            <a:r>
              <a:rPr lang="en-US" sz="1499">
                <a:solidFill>
                  <a:srgbClr val="2A2742"/>
                </a:solidFill>
                <a:latin typeface="Montserrat"/>
                <a:ea typeface="Montserrat"/>
                <a:cs typeface="Montserrat"/>
                <a:sym typeface="Montserrat"/>
              </a:rPr>
              <a:t>I</a:t>
            </a:r>
            <a:r>
              <a:rPr lang="en-US" sz="1499">
                <a:solidFill>
                  <a:srgbClr val="2A2742"/>
                </a:solidFill>
                <a:latin typeface="Montserrat"/>
                <a:ea typeface="Montserrat"/>
                <a:cs typeface="Montserrat"/>
                <a:sym typeface="Montserrat"/>
              </a:rPr>
              <a:t>nsight</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Jika mayorit</a:t>
            </a:r>
            <a:r>
              <a:rPr lang="en-US" sz="1499">
                <a:solidFill>
                  <a:srgbClr val="2A2742"/>
                </a:solidFill>
                <a:latin typeface="Montserrat"/>
                <a:ea typeface="Montserrat"/>
                <a:cs typeface="Montserrat"/>
                <a:sym typeface="Montserrat"/>
              </a:rPr>
              <a:t>as customer berada di rentang 0.6–0.8, berarti banyak pelanggan yang sering membeli ulang produk yang sama.</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Jika mayoritas berada di rentang 0–0.3, berarti pelanggan cenderung mencoba produk baru dan loyalitas masih rendah.</a:t>
            </a:r>
          </a:p>
          <a:p>
            <a:pPr algn="l">
              <a:lnSpc>
                <a:spcPts val="2360"/>
              </a:lnSpc>
            </a:pPr>
          </a:p>
        </p:txBody>
      </p:sp>
      <p:grpSp>
        <p:nvGrpSpPr>
          <p:cNvPr name="Group 13" id="13"/>
          <p:cNvGrpSpPr/>
          <p:nvPr/>
        </p:nvGrpSpPr>
        <p:grpSpPr>
          <a:xfrm rot="0">
            <a:off x="15319911" y="9630178"/>
            <a:ext cx="3967416" cy="656822"/>
            <a:chOff x="0" y="0"/>
            <a:chExt cx="1044916" cy="172990"/>
          </a:xfrm>
        </p:grpSpPr>
        <p:sp>
          <p:nvSpPr>
            <p:cNvPr name="Freeform 14" id="14"/>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5" id="15"/>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6" id="16"/>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6824046" y="3569812"/>
            <a:ext cx="10860544" cy="4127007"/>
          </a:xfrm>
          <a:custGeom>
            <a:avLst/>
            <a:gdLst/>
            <a:ahLst/>
            <a:cxnLst/>
            <a:rect r="r" b="b" t="t" l="l"/>
            <a:pathLst>
              <a:path h="4127007" w="10860544">
                <a:moveTo>
                  <a:pt x="0" y="0"/>
                </a:moveTo>
                <a:lnTo>
                  <a:pt x="10860543" y="0"/>
                </a:lnTo>
                <a:lnTo>
                  <a:pt x="10860543" y="4127007"/>
                </a:lnTo>
                <a:lnTo>
                  <a:pt x="0" y="4127007"/>
                </a:lnTo>
                <a:lnTo>
                  <a:pt x="0" y="0"/>
                </a:lnTo>
                <a:close/>
              </a:path>
            </a:pathLst>
          </a:custGeom>
          <a:blipFill>
            <a:blip r:embed="rId2"/>
            <a:stretch>
              <a:fillRect l="0" t="0" r="0" b="0"/>
            </a:stretch>
          </a:blipFill>
        </p:spPr>
      </p:sp>
      <p:sp>
        <p:nvSpPr>
          <p:cNvPr name="Freeform 3" id="3"/>
          <p:cNvSpPr/>
          <p:nvPr/>
        </p:nvSpPr>
        <p:spPr>
          <a:xfrm flipH="false" flipV="false" rot="0">
            <a:off x="1055242" y="3075804"/>
            <a:ext cx="4912536" cy="5115024"/>
          </a:xfrm>
          <a:custGeom>
            <a:avLst/>
            <a:gdLst/>
            <a:ahLst/>
            <a:cxnLst/>
            <a:rect r="r" b="b" t="t" l="l"/>
            <a:pathLst>
              <a:path h="5115024" w="4912536">
                <a:moveTo>
                  <a:pt x="0" y="0"/>
                </a:moveTo>
                <a:lnTo>
                  <a:pt x="4912535" y="0"/>
                </a:lnTo>
                <a:lnTo>
                  <a:pt x="4912535" y="5115023"/>
                </a:lnTo>
                <a:lnTo>
                  <a:pt x="0" y="5115023"/>
                </a:lnTo>
                <a:lnTo>
                  <a:pt x="0" y="0"/>
                </a:lnTo>
                <a:close/>
              </a:path>
            </a:pathLst>
          </a:custGeom>
          <a:blipFill>
            <a:blip r:embed="rId3"/>
            <a:stretch>
              <a:fillRect l="0" t="0" r="0" b="0"/>
            </a:stretch>
          </a:blipFill>
        </p:spPr>
      </p:sp>
      <p:sp>
        <p:nvSpPr>
          <p:cNvPr name="TextBox 4" id="4"/>
          <p:cNvSpPr txBox="true"/>
          <p:nvPr/>
        </p:nvSpPr>
        <p:spPr>
          <a:xfrm rot="0">
            <a:off x="620786" y="1870656"/>
            <a:ext cx="6462698" cy="923206"/>
          </a:xfrm>
          <a:prstGeom prst="rect">
            <a:avLst/>
          </a:prstGeom>
        </p:spPr>
        <p:txBody>
          <a:bodyPr anchor="t" rtlCol="false" tIns="0" lIns="0" bIns="0" rIns="0">
            <a:spAutoFit/>
          </a:bodyPr>
          <a:lstStyle/>
          <a:p>
            <a:pPr algn="l" marL="572849" indent="-286424" lvl="1">
              <a:lnSpc>
                <a:spcPts val="3714"/>
              </a:lnSpc>
              <a:buAutoNum type="arabicPeriod" startAt="1"/>
            </a:pPr>
            <a:r>
              <a:rPr lang="en-US" b="true" sz="2653" spc="21">
                <a:solidFill>
                  <a:srgbClr val="000000"/>
                </a:solidFill>
                <a:latin typeface="Neue Machina Ultra-Bold"/>
                <a:ea typeface="Neue Machina Ultra-Bold"/>
                <a:cs typeface="Neue Machina Ultra-Bold"/>
                <a:sym typeface="Neue Machina Ultra-Bold"/>
              </a:rPr>
              <a:t>Perbandingan Produk Organik dan Non Organik Produk</a:t>
            </a:r>
          </a:p>
        </p:txBody>
      </p:sp>
      <p:sp>
        <p:nvSpPr>
          <p:cNvPr name="TextBox 5" id="5"/>
          <p:cNvSpPr txBox="true"/>
          <p:nvPr/>
        </p:nvSpPr>
        <p:spPr>
          <a:xfrm rot="0">
            <a:off x="8176390" y="2337381"/>
            <a:ext cx="5896092" cy="456481"/>
          </a:xfrm>
          <a:prstGeom prst="rect">
            <a:avLst/>
          </a:prstGeom>
        </p:spPr>
        <p:txBody>
          <a:bodyPr anchor="t" rtlCol="false" tIns="0" lIns="0" bIns="0" rIns="0">
            <a:spAutoFit/>
          </a:bodyPr>
          <a:lstStyle/>
          <a:p>
            <a:pPr algn="l" marL="572849" indent="-286424" lvl="1">
              <a:lnSpc>
                <a:spcPts val="3714"/>
              </a:lnSpc>
              <a:buAutoNum type="arabicPeriod" startAt="1"/>
            </a:pPr>
            <a:r>
              <a:rPr lang="en-US" b="true" sz="2653" spc="21">
                <a:solidFill>
                  <a:srgbClr val="000000"/>
                </a:solidFill>
                <a:latin typeface="Neue Machina Ultra-Bold"/>
                <a:ea typeface="Neue Machina Ultra-Bold"/>
                <a:cs typeface="Neue Machina Ultra-Bold"/>
                <a:sym typeface="Neue Machina Ultra-Bold"/>
              </a:rPr>
              <a:t>Customer Activity Timeline</a:t>
            </a:r>
          </a:p>
        </p:txBody>
      </p:sp>
      <p:sp>
        <p:nvSpPr>
          <p:cNvPr name="Freeform 6" id="6"/>
          <p:cNvSpPr/>
          <p:nvPr/>
        </p:nvSpPr>
        <p:spPr>
          <a:xfrm flipH="false" flipV="false" rot="0">
            <a:off x="15979208" y="-16267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0" y="0"/>
            <a:ext cx="16466034" cy="1416083"/>
            <a:chOff x="0" y="0"/>
            <a:chExt cx="4336733" cy="372960"/>
          </a:xfrm>
        </p:grpSpPr>
        <p:sp>
          <p:nvSpPr>
            <p:cNvPr name="Freeform 8" id="8"/>
            <p:cNvSpPr/>
            <p:nvPr/>
          </p:nvSpPr>
          <p:spPr>
            <a:xfrm flipH="false" flipV="false" rot="0">
              <a:off x="0" y="0"/>
              <a:ext cx="4336733" cy="372960"/>
            </a:xfrm>
            <a:custGeom>
              <a:avLst/>
              <a:gdLst/>
              <a:ahLst/>
              <a:cxnLst/>
              <a:rect r="r" b="b" t="t" l="l"/>
              <a:pathLst>
                <a:path h="372960" w="4336733">
                  <a:moveTo>
                    <a:pt x="0" y="0"/>
                  </a:moveTo>
                  <a:lnTo>
                    <a:pt x="4336733" y="0"/>
                  </a:lnTo>
                  <a:lnTo>
                    <a:pt x="4336733" y="372960"/>
                  </a:lnTo>
                  <a:lnTo>
                    <a:pt x="0" y="372960"/>
                  </a:lnTo>
                  <a:close/>
                </a:path>
              </a:pathLst>
            </a:custGeom>
            <a:solidFill>
              <a:srgbClr val="CBC4FD"/>
            </a:solidFill>
          </p:spPr>
        </p:sp>
        <p:sp>
          <p:nvSpPr>
            <p:cNvPr name="TextBox 9" id="9"/>
            <p:cNvSpPr txBox="true"/>
            <p:nvPr/>
          </p:nvSpPr>
          <p:spPr>
            <a:xfrm>
              <a:off x="0" y="-57150"/>
              <a:ext cx="4336733" cy="430110"/>
            </a:xfrm>
            <a:prstGeom prst="rect">
              <a:avLst/>
            </a:prstGeom>
          </p:spPr>
          <p:txBody>
            <a:bodyPr anchor="ctr" rtlCol="false" tIns="50800" lIns="50800" bIns="50800" rIns="50800"/>
            <a:lstStyle/>
            <a:p>
              <a:pPr algn="ctr">
                <a:lnSpc>
                  <a:spcPts val="3450"/>
                </a:lnSpc>
              </a:pPr>
            </a:p>
          </p:txBody>
        </p:sp>
      </p:grpSp>
      <p:sp>
        <p:nvSpPr>
          <p:cNvPr name="TextBox 10" id="10"/>
          <p:cNvSpPr txBox="true"/>
          <p:nvPr/>
        </p:nvSpPr>
        <p:spPr>
          <a:xfrm rot="0">
            <a:off x="2459699" y="267215"/>
            <a:ext cx="13368602" cy="873125"/>
          </a:xfrm>
          <a:prstGeom prst="rect">
            <a:avLst/>
          </a:prstGeom>
        </p:spPr>
        <p:txBody>
          <a:bodyPr anchor="t" rtlCol="false" tIns="0" lIns="0" bIns="0" rIns="0">
            <a:spAutoFit/>
          </a:bodyPr>
          <a:lstStyle/>
          <a:p>
            <a:pPr algn="ctr">
              <a:lnSpc>
                <a:spcPts val="7000"/>
              </a:lnSpc>
            </a:pPr>
            <a:r>
              <a:rPr lang="en-US" b="true" sz="5000" spc="40">
                <a:solidFill>
                  <a:srgbClr val="231971"/>
                </a:solidFill>
                <a:latin typeface="Neue Machina Ultra-Bold"/>
                <a:ea typeface="Neue Machina Ultra-Bold"/>
                <a:cs typeface="Neue Machina Ultra-Bold"/>
                <a:sym typeface="Neue Machina Ultra-Bold"/>
              </a:rPr>
              <a:t>Analysis Menggunakan Matpotlib</a:t>
            </a:r>
          </a:p>
        </p:txBody>
      </p:sp>
      <p:sp>
        <p:nvSpPr>
          <p:cNvPr name="TextBox 11" id="11"/>
          <p:cNvSpPr txBox="true"/>
          <p:nvPr/>
        </p:nvSpPr>
        <p:spPr>
          <a:xfrm rot="0">
            <a:off x="1055242" y="8369065"/>
            <a:ext cx="6230804" cy="1757553"/>
          </a:xfrm>
          <a:prstGeom prst="rect">
            <a:avLst/>
          </a:prstGeom>
        </p:spPr>
        <p:txBody>
          <a:bodyPr anchor="t" rtlCol="false" tIns="0" lIns="0" bIns="0" rIns="0">
            <a:spAutoFit/>
          </a:bodyPr>
          <a:lstStyle/>
          <a:p>
            <a:pPr algn="l">
              <a:lnSpc>
                <a:spcPts val="2360"/>
              </a:lnSpc>
            </a:pPr>
            <a:r>
              <a:rPr lang="en-US" sz="1499">
                <a:solidFill>
                  <a:srgbClr val="2A2742"/>
                </a:solidFill>
                <a:latin typeface="Montserrat"/>
                <a:ea typeface="Montserrat"/>
                <a:cs typeface="Montserrat"/>
                <a:sym typeface="Montserrat"/>
              </a:rPr>
              <a:t>I</a:t>
            </a:r>
            <a:r>
              <a:rPr lang="en-US" sz="1499">
                <a:solidFill>
                  <a:srgbClr val="2A2742"/>
                </a:solidFill>
                <a:latin typeface="Montserrat"/>
                <a:ea typeface="Montserrat"/>
                <a:cs typeface="Montserrat"/>
                <a:sym typeface="Montserrat"/>
              </a:rPr>
              <a:t>nsight</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Jika Non Organic mendomin</a:t>
            </a:r>
            <a:r>
              <a:rPr lang="en-US" sz="1499">
                <a:solidFill>
                  <a:srgbClr val="2A2742"/>
                </a:solidFill>
                <a:latin typeface="Montserrat"/>
                <a:ea typeface="Montserrat"/>
                <a:cs typeface="Montserrat"/>
                <a:sym typeface="Montserrat"/>
              </a:rPr>
              <a:t>asi, berarti mayoritas pelanggan masih memilih produk reguler.</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Jika Organic m</a:t>
            </a:r>
            <a:r>
              <a:rPr lang="en-US" sz="1499">
                <a:solidFill>
                  <a:srgbClr val="2A2742"/>
                </a:solidFill>
                <a:latin typeface="Montserrat"/>
                <a:ea typeface="Montserrat"/>
                <a:cs typeface="Montserrat"/>
                <a:sym typeface="Montserrat"/>
              </a:rPr>
              <a:t>emiliki persentase tinggi, menunjukkan adanya minat besar terhadap produk sehat dan premium.</a:t>
            </a:r>
          </a:p>
          <a:p>
            <a:pPr algn="l">
              <a:lnSpc>
                <a:spcPts val="2360"/>
              </a:lnSpc>
            </a:pPr>
          </a:p>
        </p:txBody>
      </p:sp>
      <p:sp>
        <p:nvSpPr>
          <p:cNvPr name="TextBox 12" id="12"/>
          <p:cNvSpPr txBox="true"/>
          <p:nvPr/>
        </p:nvSpPr>
        <p:spPr>
          <a:xfrm rot="0">
            <a:off x="10463036" y="8133677"/>
            <a:ext cx="4491537" cy="1167003"/>
          </a:xfrm>
          <a:prstGeom prst="rect">
            <a:avLst/>
          </a:prstGeom>
        </p:spPr>
        <p:txBody>
          <a:bodyPr anchor="t" rtlCol="false" tIns="0" lIns="0" bIns="0" rIns="0">
            <a:spAutoFit/>
          </a:bodyPr>
          <a:lstStyle/>
          <a:p>
            <a:pPr algn="l">
              <a:lnSpc>
                <a:spcPts val="2360"/>
              </a:lnSpc>
            </a:pPr>
            <a:r>
              <a:rPr lang="en-US" sz="1499">
                <a:solidFill>
                  <a:srgbClr val="2A2742"/>
                </a:solidFill>
                <a:latin typeface="Montserrat"/>
                <a:ea typeface="Montserrat"/>
                <a:cs typeface="Montserrat"/>
                <a:sym typeface="Montserrat"/>
              </a:rPr>
              <a:t>I</a:t>
            </a:r>
            <a:r>
              <a:rPr lang="en-US" sz="1499">
                <a:solidFill>
                  <a:srgbClr val="2A2742"/>
                </a:solidFill>
                <a:latin typeface="Montserrat"/>
                <a:ea typeface="Montserrat"/>
                <a:cs typeface="Montserrat"/>
                <a:sym typeface="Montserrat"/>
              </a:rPr>
              <a:t>nsight</a:t>
            </a:r>
          </a:p>
          <a:p>
            <a:pPr algn="l">
              <a:lnSpc>
                <a:spcPts val="2360"/>
              </a:lnSpc>
            </a:pPr>
            <a:r>
              <a:rPr lang="en-US" sz="1499">
                <a:solidFill>
                  <a:srgbClr val="2A2742"/>
                </a:solidFill>
                <a:latin typeface="Montserrat"/>
                <a:ea typeface="Montserrat"/>
                <a:cs typeface="Montserrat"/>
                <a:sym typeface="Montserrat"/>
              </a:rPr>
              <a:t>Aktivit</a:t>
            </a:r>
            <a:r>
              <a:rPr lang="en-US" sz="1499">
                <a:solidFill>
                  <a:srgbClr val="2A2742"/>
                </a:solidFill>
                <a:latin typeface="Montserrat"/>
                <a:ea typeface="Montserrat"/>
                <a:cs typeface="Montserrat"/>
                <a:sym typeface="Montserrat"/>
              </a:rPr>
              <a:t>as pembelian seiring bertambahnya order pelanggan</a:t>
            </a:r>
          </a:p>
          <a:p>
            <a:pPr algn="l">
              <a:lnSpc>
                <a:spcPts val="2360"/>
              </a:lnSpc>
            </a:pPr>
          </a:p>
        </p:txBody>
      </p:sp>
      <p:grpSp>
        <p:nvGrpSpPr>
          <p:cNvPr name="Group 13" id="13"/>
          <p:cNvGrpSpPr/>
          <p:nvPr/>
        </p:nvGrpSpPr>
        <p:grpSpPr>
          <a:xfrm rot="0">
            <a:off x="15319911" y="9630178"/>
            <a:ext cx="3967416" cy="656822"/>
            <a:chOff x="0" y="0"/>
            <a:chExt cx="1044916" cy="172990"/>
          </a:xfrm>
        </p:grpSpPr>
        <p:sp>
          <p:nvSpPr>
            <p:cNvPr name="Freeform 14" id="14"/>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5" id="15"/>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6" id="16"/>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15979208" y="-16267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0"/>
            <a:ext cx="16466034" cy="1416083"/>
            <a:chOff x="0" y="0"/>
            <a:chExt cx="4336733" cy="372960"/>
          </a:xfrm>
        </p:grpSpPr>
        <p:sp>
          <p:nvSpPr>
            <p:cNvPr name="Freeform 4" id="4"/>
            <p:cNvSpPr/>
            <p:nvPr/>
          </p:nvSpPr>
          <p:spPr>
            <a:xfrm flipH="false" flipV="false" rot="0">
              <a:off x="0" y="0"/>
              <a:ext cx="4336733" cy="372960"/>
            </a:xfrm>
            <a:custGeom>
              <a:avLst/>
              <a:gdLst/>
              <a:ahLst/>
              <a:cxnLst/>
              <a:rect r="r" b="b" t="t" l="l"/>
              <a:pathLst>
                <a:path h="372960" w="4336733">
                  <a:moveTo>
                    <a:pt x="0" y="0"/>
                  </a:moveTo>
                  <a:lnTo>
                    <a:pt x="4336733" y="0"/>
                  </a:lnTo>
                  <a:lnTo>
                    <a:pt x="4336733" y="372960"/>
                  </a:lnTo>
                  <a:lnTo>
                    <a:pt x="0" y="372960"/>
                  </a:lnTo>
                  <a:close/>
                </a:path>
              </a:pathLst>
            </a:custGeom>
            <a:solidFill>
              <a:srgbClr val="CBC4FD"/>
            </a:solidFill>
          </p:spPr>
        </p:sp>
        <p:sp>
          <p:nvSpPr>
            <p:cNvPr name="TextBox 5" id="5"/>
            <p:cNvSpPr txBox="true"/>
            <p:nvPr/>
          </p:nvSpPr>
          <p:spPr>
            <a:xfrm>
              <a:off x="0" y="-57150"/>
              <a:ext cx="4336733" cy="430110"/>
            </a:xfrm>
            <a:prstGeom prst="rect">
              <a:avLst/>
            </a:prstGeom>
          </p:spPr>
          <p:txBody>
            <a:bodyPr anchor="ctr" rtlCol="false" tIns="50800" lIns="50800" bIns="50800" rIns="50800"/>
            <a:lstStyle/>
            <a:p>
              <a:pPr algn="ctr">
                <a:lnSpc>
                  <a:spcPts val="3450"/>
                </a:lnSpc>
              </a:pPr>
            </a:p>
          </p:txBody>
        </p:sp>
      </p:grpSp>
      <p:sp>
        <p:nvSpPr>
          <p:cNvPr name="Freeform 6" id="6"/>
          <p:cNvSpPr/>
          <p:nvPr/>
        </p:nvSpPr>
        <p:spPr>
          <a:xfrm flipH="false" flipV="false" rot="0">
            <a:off x="607074" y="2938740"/>
            <a:ext cx="8315449" cy="4126253"/>
          </a:xfrm>
          <a:custGeom>
            <a:avLst/>
            <a:gdLst/>
            <a:ahLst/>
            <a:cxnLst/>
            <a:rect r="r" b="b" t="t" l="l"/>
            <a:pathLst>
              <a:path h="4126253" w="8315449">
                <a:moveTo>
                  <a:pt x="0" y="0"/>
                </a:moveTo>
                <a:lnTo>
                  <a:pt x="8315448" y="0"/>
                </a:lnTo>
                <a:lnTo>
                  <a:pt x="8315448" y="4126253"/>
                </a:lnTo>
                <a:lnTo>
                  <a:pt x="0" y="4126253"/>
                </a:lnTo>
                <a:lnTo>
                  <a:pt x="0" y="0"/>
                </a:lnTo>
                <a:close/>
              </a:path>
            </a:pathLst>
          </a:custGeom>
          <a:blipFill>
            <a:blip r:embed="rId4"/>
            <a:stretch>
              <a:fillRect l="0" t="0" r="0" b="0"/>
            </a:stretch>
          </a:blipFill>
        </p:spPr>
      </p:sp>
      <p:sp>
        <p:nvSpPr>
          <p:cNvPr name="Freeform 7" id="7"/>
          <p:cNvSpPr/>
          <p:nvPr/>
        </p:nvSpPr>
        <p:spPr>
          <a:xfrm flipH="false" flipV="false" rot="0">
            <a:off x="9580945" y="2938740"/>
            <a:ext cx="8118399" cy="4028474"/>
          </a:xfrm>
          <a:custGeom>
            <a:avLst/>
            <a:gdLst/>
            <a:ahLst/>
            <a:cxnLst/>
            <a:rect r="r" b="b" t="t" l="l"/>
            <a:pathLst>
              <a:path h="4028474" w="8118399">
                <a:moveTo>
                  <a:pt x="0" y="0"/>
                </a:moveTo>
                <a:lnTo>
                  <a:pt x="8118399" y="0"/>
                </a:lnTo>
                <a:lnTo>
                  <a:pt x="8118399" y="4028474"/>
                </a:lnTo>
                <a:lnTo>
                  <a:pt x="0" y="4028474"/>
                </a:lnTo>
                <a:lnTo>
                  <a:pt x="0" y="0"/>
                </a:lnTo>
                <a:close/>
              </a:path>
            </a:pathLst>
          </a:custGeom>
          <a:blipFill>
            <a:blip r:embed="rId5"/>
            <a:stretch>
              <a:fillRect l="0" t="0" r="0" b="0"/>
            </a:stretch>
          </a:blipFill>
        </p:spPr>
      </p:sp>
      <p:sp>
        <p:nvSpPr>
          <p:cNvPr name="TextBox 8" id="8"/>
          <p:cNvSpPr txBox="true"/>
          <p:nvPr/>
        </p:nvSpPr>
        <p:spPr>
          <a:xfrm rot="0">
            <a:off x="1265741" y="2055200"/>
            <a:ext cx="5896092" cy="456481"/>
          </a:xfrm>
          <a:prstGeom prst="rect">
            <a:avLst/>
          </a:prstGeom>
        </p:spPr>
        <p:txBody>
          <a:bodyPr anchor="t" rtlCol="false" tIns="0" lIns="0" bIns="0" rIns="0">
            <a:spAutoFit/>
          </a:bodyPr>
          <a:lstStyle/>
          <a:p>
            <a:pPr algn="l" marL="572849" indent="-286424" lvl="1">
              <a:lnSpc>
                <a:spcPts val="3714"/>
              </a:lnSpc>
              <a:buAutoNum type="arabicPeriod" startAt="1"/>
            </a:pPr>
            <a:r>
              <a:rPr lang="en-US" b="true" sz="2653" spc="21">
                <a:solidFill>
                  <a:srgbClr val="000000"/>
                </a:solidFill>
                <a:latin typeface="Neue Machina Ultra-Bold"/>
                <a:ea typeface="Neue Machina Ultra-Bold"/>
                <a:cs typeface="Neue Machina Ultra-Bold"/>
                <a:sym typeface="Neue Machina Ultra-Bold"/>
              </a:rPr>
              <a:t> Jam Paling Ramai</a:t>
            </a:r>
          </a:p>
        </p:txBody>
      </p:sp>
      <p:sp>
        <p:nvSpPr>
          <p:cNvPr name="TextBox 9" id="9"/>
          <p:cNvSpPr txBox="true"/>
          <p:nvPr/>
        </p:nvSpPr>
        <p:spPr>
          <a:xfrm rot="0">
            <a:off x="9996042" y="2055200"/>
            <a:ext cx="5896092" cy="456481"/>
          </a:xfrm>
          <a:prstGeom prst="rect">
            <a:avLst/>
          </a:prstGeom>
        </p:spPr>
        <p:txBody>
          <a:bodyPr anchor="t" rtlCol="false" tIns="0" lIns="0" bIns="0" rIns="0">
            <a:spAutoFit/>
          </a:bodyPr>
          <a:lstStyle/>
          <a:p>
            <a:pPr algn="l" marL="572849" indent="-286424" lvl="1">
              <a:lnSpc>
                <a:spcPts val="3714"/>
              </a:lnSpc>
              <a:buAutoNum type="arabicPeriod" startAt="1"/>
            </a:pPr>
            <a:r>
              <a:rPr lang="en-US" b="true" sz="2653" spc="21">
                <a:solidFill>
                  <a:srgbClr val="000000"/>
                </a:solidFill>
                <a:latin typeface="Neue Machina Ultra-Bold"/>
                <a:ea typeface="Neue Machina Ultra-Bold"/>
                <a:cs typeface="Neue Machina Ultra-Bold"/>
                <a:sym typeface="Neue Machina Ultra-Bold"/>
              </a:rPr>
              <a:t>Produk 10 Terlaris</a:t>
            </a:r>
          </a:p>
        </p:txBody>
      </p:sp>
      <p:sp>
        <p:nvSpPr>
          <p:cNvPr name="TextBox 10" id="10"/>
          <p:cNvSpPr txBox="true"/>
          <p:nvPr/>
        </p:nvSpPr>
        <p:spPr>
          <a:xfrm rot="0">
            <a:off x="2459699" y="206359"/>
            <a:ext cx="13368602" cy="873125"/>
          </a:xfrm>
          <a:prstGeom prst="rect">
            <a:avLst/>
          </a:prstGeom>
        </p:spPr>
        <p:txBody>
          <a:bodyPr anchor="t" rtlCol="false" tIns="0" lIns="0" bIns="0" rIns="0">
            <a:spAutoFit/>
          </a:bodyPr>
          <a:lstStyle/>
          <a:p>
            <a:pPr algn="ctr">
              <a:lnSpc>
                <a:spcPts val="7000"/>
              </a:lnSpc>
            </a:pPr>
            <a:r>
              <a:rPr lang="en-US" b="true" sz="5000" spc="40">
                <a:solidFill>
                  <a:srgbClr val="231971"/>
                </a:solidFill>
                <a:latin typeface="Neue Machina Ultra-Bold"/>
                <a:ea typeface="Neue Machina Ultra-Bold"/>
                <a:cs typeface="Neue Machina Ultra-Bold"/>
                <a:sym typeface="Neue Machina Ultra-Bold"/>
              </a:rPr>
              <a:t>Analysis Menggunakan Seaborn</a:t>
            </a:r>
          </a:p>
        </p:txBody>
      </p:sp>
      <p:sp>
        <p:nvSpPr>
          <p:cNvPr name="TextBox 11" id="11"/>
          <p:cNvSpPr txBox="true"/>
          <p:nvPr/>
        </p:nvSpPr>
        <p:spPr>
          <a:xfrm rot="0">
            <a:off x="1265741" y="7849863"/>
            <a:ext cx="4491537" cy="1757553"/>
          </a:xfrm>
          <a:prstGeom prst="rect">
            <a:avLst/>
          </a:prstGeom>
        </p:spPr>
        <p:txBody>
          <a:bodyPr anchor="t" rtlCol="false" tIns="0" lIns="0" bIns="0" rIns="0">
            <a:spAutoFit/>
          </a:bodyPr>
          <a:lstStyle/>
          <a:p>
            <a:pPr algn="l">
              <a:lnSpc>
                <a:spcPts val="2360"/>
              </a:lnSpc>
            </a:pPr>
            <a:r>
              <a:rPr lang="en-US" sz="1499">
                <a:solidFill>
                  <a:srgbClr val="2A2742"/>
                </a:solidFill>
                <a:latin typeface="Montserrat"/>
                <a:ea typeface="Montserrat"/>
                <a:cs typeface="Montserrat"/>
                <a:sym typeface="Montserrat"/>
              </a:rPr>
              <a:t>I</a:t>
            </a:r>
            <a:r>
              <a:rPr lang="en-US" sz="1499">
                <a:solidFill>
                  <a:srgbClr val="2A2742"/>
                </a:solidFill>
                <a:latin typeface="Montserrat"/>
                <a:ea typeface="Montserrat"/>
                <a:cs typeface="Montserrat"/>
                <a:sym typeface="Montserrat"/>
              </a:rPr>
              <a:t>nsight</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Punc</a:t>
            </a:r>
            <a:r>
              <a:rPr lang="en-US" sz="1499">
                <a:solidFill>
                  <a:srgbClr val="2A2742"/>
                </a:solidFill>
                <a:latin typeface="Montserrat"/>
                <a:ea typeface="Montserrat"/>
                <a:cs typeface="Montserrat"/>
                <a:sym typeface="Montserrat"/>
              </a:rPr>
              <a:t>ak transaksi pukul 12.00.</a:t>
            </a:r>
          </a:p>
          <a:p>
            <a:pPr algn="l">
              <a:lnSpc>
                <a:spcPts val="2360"/>
              </a:lnSpc>
            </a:pPr>
            <a:r>
              <a:rPr lang="en-US" sz="1499">
                <a:solidFill>
                  <a:srgbClr val="2A2742"/>
                </a:solidFill>
                <a:latin typeface="Montserrat"/>
                <a:ea typeface="Montserrat"/>
                <a:cs typeface="Montserrat"/>
                <a:sym typeface="Montserrat"/>
              </a:rPr>
              <a:t>Rekomendasi</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Tingkatkan kapasitas sistem dan stok pada jam tersebut.</a:t>
            </a:r>
          </a:p>
          <a:p>
            <a:pPr algn="l">
              <a:lnSpc>
                <a:spcPts val="2360"/>
              </a:lnSpc>
            </a:pPr>
          </a:p>
        </p:txBody>
      </p:sp>
      <p:sp>
        <p:nvSpPr>
          <p:cNvPr name="TextBox 12" id="12"/>
          <p:cNvSpPr txBox="true"/>
          <p:nvPr/>
        </p:nvSpPr>
        <p:spPr>
          <a:xfrm rot="0">
            <a:off x="9580945" y="7849863"/>
            <a:ext cx="4491537" cy="1462278"/>
          </a:xfrm>
          <a:prstGeom prst="rect">
            <a:avLst/>
          </a:prstGeom>
        </p:spPr>
        <p:txBody>
          <a:bodyPr anchor="t" rtlCol="false" tIns="0" lIns="0" bIns="0" rIns="0">
            <a:spAutoFit/>
          </a:bodyPr>
          <a:lstStyle/>
          <a:p>
            <a:pPr algn="l">
              <a:lnSpc>
                <a:spcPts val="2360"/>
              </a:lnSpc>
            </a:pPr>
            <a:r>
              <a:rPr lang="en-US" sz="1499">
                <a:solidFill>
                  <a:srgbClr val="2A2742"/>
                </a:solidFill>
                <a:latin typeface="Montserrat"/>
                <a:ea typeface="Montserrat"/>
                <a:cs typeface="Montserrat"/>
                <a:sym typeface="Montserrat"/>
              </a:rPr>
              <a:t>I</a:t>
            </a:r>
            <a:r>
              <a:rPr lang="en-US" sz="1499">
                <a:solidFill>
                  <a:srgbClr val="2A2742"/>
                </a:solidFill>
                <a:latin typeface="Montserrat"/>
                <a:ea typeface="Montserrat"/>
                <a:cs typeface="Montserrat"/>
                <a:sym typeface="Montserrat"/>
              </a:rPr>
              <a:t>nsight</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B</a:t>
            </a:r>
            <a:r>
              <a:rPr lang="en-US" sz="1499">
                <a:solidFill>
                  <a:srgbClr val="2A2742"/>
                </a:solidFill>
                <a:latin typeface="Montserrat"/>
                <a:ea typeface="Montserrat"/>
                <a:cs typeface="Montserrat"/>
                <a:sym typeface="Montserrat"/>
              </a:rPr>
              <a:t>anana menjadi produk paling laris.</a:t>
            </a:r>
          </a:p>
          <a:p>
            <a:pPr algn="l">
              <a:lnSpc>
                <a:spcPts val="2360"/>
              </a:lnSpc>
            </a:pPr>
            <a:r>
              <a:rPr lang="en-US" sz="1499">
                <a:solidFill>
                  <a:srgbClr val="2A2742"/>
                </a:solidFill>
                <a:latin typeface="Montserrat"/>
                <a:ea typeface="Montserrat"/>
                <a:cs typeface="Montserrat"/>
                <a:sym typeface="Montserrat"/>
              </a:rPr>
              <a:t>Rekomendasi</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Prioritaskan stok produk tersebut.</a:t>
            </a:r>
          </a:p>
          <a:p>
            <a:pPr algn="l">
              <a:lnSpc>
                <a:spcPts val="2360"/>
              </a:lnSpc>
            </a:pPr>
          </a:p>
        </p:txBody>
      </p:sp>
      <p:grpSp>
        <p:nvGrpSpPr>
          <p:cNvPr name="Group 13" id="13"/>
          <p:cNvGrpSpPr/>
          <p:nvPr/>
        </p:nvGrpSpPr>
        <p:grpSpPr>
          <a:xfrm rot="0">
            <a:off x="15319911" y="9630178"/>
            <a:ext cx="3967416" cy="656822"/>
            <a:chOff x="0" y="0"/>
            <a:chExt cx="1044916" cy="172990"/>
          </a:xfrm>
        </p:grpSpPr>
        <p:sp>
          <p:nvSpPr>
            <p:cNvPr name="Freeform 14" id="14"/>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5" id="15"/>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6" id="16"/>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15979208" y="-16267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0"/>
            <a:ext cx="16466034" cy="1416083"/>
            <a:chOff x="0" y="0"/>
            <a:chExt cx="4336733" cy="372960"/>
          </a:xfrm>
        </p:grpSpPr>
        <p:sp>
          <p:nvSpPr>
            <p:cNvPr name="Freeform 4" id="4"/>
            <p:cNvSpPr/>
            <p:nvPr/>
          </p:nvSpPr>
          <p:spPr>
            <a:xfrm flipH="false" flipV="false" rot="0">
              <a:off x="0" y="0"/>
              <a:ext cx="4336733" cy="372960"/>
            </a:xfrm>
            <a:custGeom>
              <a:avLst/>
              <a:gdLst/>
              <a:ahLst/>
              <a:cxnLst/>
              <a:rect r="r" b="b" t="t" l="l"/>
              <a:pathLst>
                <a:path h="372960" w="4336733">
                  <a:moveTo>
                    <a:pt x="0" y="0"/>
                  </a:moveTo>
                  <a:lnTo>
                    <a:pt x="4336733" y="0"/>
                  </a:lnTo>
                  <a:lnTo>
                    <a:pt x="4336733" y="372960"/>
                  </a:lnTo>
                  <a:lnTo>
                    <a:pt x="0" y="372960"/>
                  </a:lnTo>
                  <a:close/>
                </a:path>
              </a:pathLst>
            </a:custGeom>
            <a:solidFill>
              <a:srgbClr val="CBC4FD"/>
            </a:solidFill>
          </p:spPr>
        </p:sp>
        <p:sp>
          <p:nvSpPr>
            <p:cNvPr name="TextBox 5" id="5"/>
            <p:cNvSpPr txBox="true"/>
            <p:nvPr/>
          </p:nvSpPr>
          <p:spPr>
            <a:xfrm>
              <a:off x="0" y="-57150"/>
              <a:ext cx="4336733" cy="430110"/>
            </a:xfrm>
            <a:prstGeom prst="rect">
              <a:avLst/>
            </a:prstGeom>
          </p:spPr>
          <p:txBody>
            <a:bodyPr anchor="ctr" rtlCol="false" tIns="50800" lIns="50800" bIns="50800" rIns="50800"/>
            <a:lstStyle/>
            <a:p>
              <a:pPr algn="ctr">
                <a:lnSpc>
                  <a:spcPts val="3450"/>
                </a:lnSpc>
              </a:pPr>
            </a:p>
          </p:txBody>
        </p:sp>
      </p:grpSp>
      <p:sp>
        <p:nvSpPr>
          <p:cNvPr name="Freeform 6" id="6"/>
          <p:cNvSpPr/>
          <p:nvPr/>
        </p:nvSpPr>
        <p:spPr>
          <a:xfrm flipH="false" flipV="false" rot="0">
            <a:off x="1265741" y="2778740"/>
            <a:ext cx="6967276" cy="4651448"/>
          </a:xfrm>
          <a:custGeom>
            <a:avLst/>
            <a:gdLst/>
            <a:ahLst/>
            <a:cxnLst/>
            <a:rect r="r" b="b" t="t" l="l"/>
            <a:pathLst>
              <a:path h="4651448" w="6967276">
                <a:moveTo>
                  <a:pt x="0" y="0"/>
                </a:moveTo>
                <a:lnTo>
                  <a:pt x="6967276" y="0"/>
                </a:lnTo>
                <a:lnTo>
                  <a:pt x="6967276" y="4651449"/>
                </a:lnTo>
                <a:lnTo>
                  <a:pt x="0" y="4651449"/>
                </a:lnTo>
                <a:lnTo>
                  <a:pt x="0" y="0"/>
                </a:lnTo>
                <a:close/>
              </a:path>
            </a:pathLst>
          </a:custGeom>
          <a:blipFill>
            <a:blip r:embed="rId4"/>
            <a:stretch>
              <a:fillRect l="0" t="0" r="0" b="0"/>
            </a:stretch>
          </a:blipFill>
        </p:spPr>
      </p:sp>
      <p:sp>
        <p:nvSpPr>
          <p:cNvPr name="Freeform 7" id="7"/>
          <p:cNvSpPr/>
          <p:nvPr/>
        </p:nvSpPr>
        <p:spPr>
          <a:xfrm flipH="false" flipV="false" rot="0">
            <a:off x="9144000" y="3403252"/>
            <a:ext cx="8115300" cy="4026936"/>
          </a:xfrm>
          <a:custGeom>
            <a:avLst/>
            <a:gdLst/>
            <a:ahLst/>
            <a:cxnLst/>
            <a:rect r="r" b="b" t="t" l="l"/>
            <a:pathLst>
              <a:path h="4026936" w="8115300">
                <a:moveTo>
                  <a:pt x="0" y="0"/>
                </a:moveTo>
                <a:lnTo>
                  <a:pt x="8115300" y="0"/>
                </a:lnTo>
                <a:lnTo>
                  <a:pt x="8115300" y="4026937"/>
                </a:lnTo>
                <a:lnTo>
                  <a:pt x="0" y="4026937"/>
                </a:lnTo>
                <a:lnTo>
                  <a:pt x="0" y="0"/>
                </a:lnTo>
                <a:close/>
              </a:path>
            </a:pathLst>
          </a:custGeom>
          <a:blipFill>
            <a:blip r:embed="rId5"/>
            <a:stretch>
              <a:fillRect l="0" t="0" r="0" b="0"/>
            </a:stretch>
          </a:blipFill>
        </p:spPr>
      </p:sp>
      <p:sp>
        <p:nvSpPr>
          <p:cNvPr name="TextBox 8" id="8"/>
          <p:cNvSpPr txBox="true"/>
          <p:nvPr/>
        </p:nvSpPr>
        <p:spPr>
          <a:xfrm rot="0">
            <a:off x="1265741" y="7849863"/>
            <a:ext cx="4491537" cy="1462278"/>
          </a:xfrm>
          <a:prstGeom prst="rect">
            <a:avLst/>
          </a:prstGeom>
        </p:spPr>
        <p:txBody>
          <a:bodyPr anchor="t" rtlCol="false" tIns="0" lIns="0" bIns="0" rIns="0">
            <a:spAutoFit/>
          </a:bodyPr>
          <a:lstStyle/>
          <a:p>
            <a:pPr algn="l">
              <a:lnSpc>
                <a:spcPts val="2360"/>
              </a:lnSpc>
            </a:pPr>
            <a:r>
              <a:rPr lang="en-US" sz="1499">
                <a:solidFill>
                  <a:srgbClr val="2A2742"/>
                </a:solidFill>
                <a:latin typeface="Montserrat"/>
                <a:ea typeface="Montserrat"/>
                <a:cs typeface="Montserrat"/>
                <a:sym typeface="Montserrat"/>
              </a:rPr>
              <a:t>I</a:t>
            </a:r>
            <a:r>
              <a:rPr lang="en-US" sz="1499">
                <a:solidFill>
                  <a:srgbClr val="2A2742"/>
                </a:solidFill>
                <a:latin typeface="Montserrat"/>
                <a:ea typeface="Montserrat"/>
                <a:cs typeface="Montserrat"/>
                <a:sym typeface="Montserrat"/>
              </a:rPr>
              <a:t>nsight</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Sebagian besar produk dibeli ulang.</a:t>
            </a:r>
          </a:p>
          <a:p>
            <a:pPr algn="l">
              <a:lnSpc>
                <a:spcPts val="2360"/>
              </a:lnSpc>
            </a:pPr>
            <a:r>
              <a:rPr lang="en-US" sz="1499">
                <a:solidFill>
                  <a:srgbClr val="2A2742"/>
                </a:solidFill>
                <a:latin typeface="Montserrat"/>
                <a:ea typeface="Montserrat"/>
                <a:cs typeface="Montserrat"/>
                <a:sym typeface="Montserrat"/>
              </a:rPr>
              <a:t>Rekomendasi</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Buat loyalty program.</a:t>
            </a:r>
          </a:p>
          <a:p>
            <a:pPr algn="l">
              <a:lnSpc>
                <a:spcPts val="2360"/>
              </a:lnSpc>
            </a:pPr>
          </a:p>
        </p:txBody>
      </p:sp>
      <p:sp>
        <p:nvSpPr>
          <p:cNvPr name="TextBox 9" id="9"/>
          <p:cNvSpPr txBox="true"/>
          <p:nvPr/>
        </p:nvSpPr>
        <p:spPr>
          <a:xfrm rot="0">
            <a:off x="1265741" y="2055200"/>
            <a:ext cx="5896092" cy="456481"/>
          </a:xfrm>
          <a:prstGeom prst="rect">
            <a:avLst/>
          </a:prstGeom>
        </p:spPr>
        <p:txBody>
          <a:bodyPr anchor="t" rtlCol="false" tIns="0" lIns="0" bIns="0" rIns="0">
            <a:spAutoFit/>
          </a:bodyPr>
          <a:lstStyle/>
          <a:p>
            <a:pPr algn="l" marL="572849" indent="-286424" lvl="1">
              <a:lnSpc>
                <a:spcPts val="3714"/>
              </a:lnSpc>
              <a:buAutoNum type="arabicPeriod" startAt="1"/>
            </a:pPr>
            <a:r>
              <a:rPr lang="en-US" b="true" sz="2653" spc="21">
                <a:solidFill>
                  <a:srgbClr val="000000"/>
                </a:solidFill>
                <a:latin typeface="Neue Machina Ultra-Bold"/>
                <a:ea typeface="Neue Machina Ultra-Bold"/>
                <a:cs typeface="Neue Machina Ultra-Bold"/>
                <a:sym typeface="Neue Machina Ultra-Bold"/>
              </a:rPr>
              <a:t>Re Order vs Non ReOrder</a:t>
            </a:r>
          </a:p>
        </p:txBody>
      </p:sp>
      <p:sp>
        <p:nvSpPr>
          <p:cNvPr name="TextBox 10" id="10"/>
          <p:cNvSpPr txBox="true"/>
          <p:nvPr/>
        </p:nvSpPr>
        <p:spPr>
          <a:xfrm rot="0">
            <a:off x="9158067" y="2055200"/>
            <a:ext cx="7307967" cy="923206"/>
          </a:xfrm>
          <a:prstGeom prst="rect">
            <a:avLst/>
          </a:prstGeom>
        </p:spPr>
        <p:txBody>
          <a:bodyPr anchor="t" rtlCol="false" tIns="0" lIns="0" bIns="0" rIns="0">
            <a:spAutoFit/>
          </a:bodyPr>
          <a:lstStyle/>
          <a:p>
            <a:pPr algn="l" marL="572849" indent="-286424" lvl="1">
              <a:lnSpc>
                <a:spcPts val="3714"/>
              </a:lnSpc>
              <a:buAutoNum type="arabicPeriod" startAt="1"/>
            </a:pPr>
            <a:r>
              <a:rPr lang="en-US" b="true" sz="2653" spc="21">
                <a:solidFill>
                  <a:srgbClr val="000000"/>
                </a:solidFill>
                <a:latin typeface="Neue Machina Ultra-Bold"/>
                <a:ea typeface="Neue Machina Ultra-Bold"/>
                <a:cs typeface="Neue Machina Ultra-Bold"/>
                <a:sym typeface="Neue Machina Ultra-Bold"/>
              </a:rPr>
              <a:t>Hubungan Barang Dimasukkan dan Barang Re-order</a:t>
            </a:r>
          </a:p>
        </p:txBody>
      </p:sp>
      <p:sp>
        <p:nvSpPr>
          <p:cNvPr name="TextBox 11" id="11"/>
          <p:cNvSpPr txBox="true"/>
          <p:nvPr/>
        </p:nvSpPr>
        <p:spPr>
          <a:xfrm rot="0">
            <a:off x="2459699" y="206359"/>
            <a:ext cx="13368602" cy="873125"/>
          </a:xfrm>
          <a:prstGeom prst="rect">
            <a:avLst/>
          </a:prstGeom>
        </p:spPr>
        <p:txBody>
          <a:bodyPr anchor="t" rtlCol="false" tIns="0" lIns="0" bIns="0" rIns="0">
            <a:spAutoFit/>
          </a:bodyPr>
          <a:lstStyle/>
          <a:p>
            <a:pPr algn="ctr">
              <a:lnSpc>
                <a:spcPts val="7000"/>
              </a:lnSpc>
            </a:pPr>
            <a:r>
              <a:rPr lang="en-US" b="true" sz="5000" spc="40">
                <a:solidFill>
                  <a:srgbClr val="231971"/>
                </a:solidFill>
                <a:latin typeface="Neue Machina Ultra-Bold"/>
                <a:ea typeface="Neue Machina Ultra-Bold"/>
                <a:cs typeface="Neue Machina Ultra-Bold"/>
                <a:sym typeface="Neue Machina Ultra-Bold"/>
              </a:rPr>
              <a:t>Analysis Menggunakan Seaborn</a:t>
            </a:r>
          </a:p>
        </p:txBody>
      </p:sp>
      <p:sp>
        <p:nvSpPr>
          <p:cNvPr name="TextBox 12" id="12"/>
          <p:cNvSpPr txBox="true"/>
          <p:nvPr/>
        </p:nvSpPr>
        <p:spPr>
          <a:xfrm rot="0">
            <a:off x="9158067" y="7849863"/>
            <a:ext cx="4491537" cy="2052828"/>
          </a:xfrm>
          <a:prstGeom prst="rect">
            <a:avLst/>
          </a:prstGeom>
        </p:spPr>
        <p:txBody>
          <a:bodyPr anchor="t" rtlCol="false" tIns="0" lIns="0" bIns="0" rIns="0">
            <a:spAutoFit/>
          </a:bodyPr>
          <a:lstStyle/>
          <a:p>
            <a:pPr algn="l">
              <a:lnSpc>
                <a:spcPts val="2360"/>
              </a:lnSpc>
            </a:pPr>
            <a:r>
              <a:rPr lang="en-US" sz="1499">
                <a:solidFill>
                  <a:srgbClr val="2A2742"/>
                </a:solidFill>
                <a:latin typeface="Montserrat"/>
                <a:ea typeface="Montserrat"/>
                <a:cs typeface="Montserrat"/>
                <a:sym typeface="Montserrat"/>
              </a:rPr>
              <a:t>I</a:t>
            </a:r>
            <a:r>
              <a:rPr lang="en-US" sz="1499">
                <a:solidFill>
                  <a:srgbClr val="2A2742"/>
                </a:solidFill>
                <a:latin typeface="Montserrat"/>
                <a:ea typeface="Montserrat"/>
                <a:cs typeface="Montserrat"/>
                <a:sym typeface="Montserrat"/>
              </a:rPr>
              <a:t>nsight</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Produk yang masuk lebih awal cenderung sering direorder.</a:t>
            </a:r>
          </a:p>
          <a:p>
            <a:pPr algn="l">
              <a:lnSpc>
                <a:spcPts val="2360"/>
              </a:lnSpc>
            </a:pPr>
            <a:r>
              <a:rPr lang="en-US" sz="1499">
                <a:solidFill>
                  <a:srgbClr val="2A2742"/>
                </a:solidFill>
                <a:latin typeface="Montserrat"/>
                <a:ea typeface="Montserrat"/>
                <a:cs typeface="Montserrat"/>
                <a:sym typeface="Montserrat"/>
              </a:rPr>
              <a:t>Rekomendasi</a:t>
            </a:r>
          </a:p>
          <a:p>
            <a:pPr algn="l" marL="323848" indent="-161924" lvl="1">
              <a:lnSpc>
                <a:spcPts val="2360"/>
              </a:lnSpc>
              <a:buFont typeface="Arial"/>
              <a:buChar char="•"/>
            </a:pPr>
            <a:r>
              <a:rPr lang="en-US" sz="1499">
                <a:solidFill>
                  <a:srgbClr val="2A2742"/>
                </a:solidFill>
                <a:latin typeface="Montserrat"/>
                <a:ea typeface="Montserrat"/>
                <a:cs typeface="Montserrat"/>
                <a:sym typeface="Montserrat"/>
              </a:rPr>
              <a:t>Gunakan sebagai dasar sistem rekomendasi.</a:t>
            </a:r>
          </a:p>
          <a:p>
            <a:pPr algn="l">
              <a:lnSpc>
                <a:spcPts val="2360"/>
              </a:lnSpc>
            </a:pPr>
          </a:p>
        </p:txBody>
      </p:sp>
      <p:grpSp>
        <p:nvGrpSpPr>
          <p:cNvPr name="Group 13" id="13"/>
          <p:cNvGrpSpPr/>
          <p:nvPr/>
        </p:nvGrpSpPr>
        <p:grpSpPr>
          <a:xfrm rot="0">
            <a:off x="15319911" y="9630178"/>
            <a:ext cx="3967416" cy="656822"/>
            <a:chOff x="0" y="0"/>
            <a:chExt cx="1044916" cy="172990"/>
          </a:xfrm>
        </p:grpSpPr>
        <p:sp>
          <p:nvSpPr>
            <p:cNvPr name="Freeform 14" id="14"/>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5" id="15"/>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6" id="16"/>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15979208" y="-16267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06008" y="77989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2012432"/>
            <a:ext cx="16230600" cy="8274568"/>
            <a:chOff x="0" y="0"/>
            <a:chExt cx="4274726" cy="2179310"/>
          </a:xfrm>
        </p:grpSpPr>
        <p:sp>
          <p:nvSpPr>
            <p:cNvPr name="Freeform 5" id="5"/>
            <p:cNvSpPr/>
            <p:nvPr/>
          </p:nvSpPr>
          <p:spPr>
            <a:xfrm flipH="false" flipV="false" rot="0">
              <a:off x="0" y="0"/>
              <a:ext cx="4274726" cy="2179310"/>
            </a:xfrm>
            <a:custGeom>
              <a:avLst/>
              <a:gdLst/>
              <a:ahLst/>
              <a:cxnLst/>
              <a:rect r="r" b="b" t="t" l="l"/>
              <a:pathLst>
                <a:path h="2179310" w="4274726">
                  <a:moveTo>
                    <a:pt x="0" y="0"/>
                  </a:moveTo>
                  <a:lnTo>
                    <a:pt x="4274726" y="0"/>
                  </a:lnTo>
                  <a:lnTo>
                    <a:pt x="4274726" y="2179310"/>
                  </a:lnTo>
                  <a:lnTo>
                    <a:pt x="0" y="2179310"/>
                  </a:lnTo>
                  <a:close/>
                </a:path>
              </a:pathLst>
            </a:custGeom>
            <a:solidFill>
              <a:srgbClr val="B5D6B0"/>
            </a:solidFill>
          </p:spPr>
        </p:sp>
        <p:sp>
          <p:nvSpPr>
            <p:cNvPr name="TextBox 6" id="6"/>
            <p:cNvSpPr txBox="true"/>
            <p:nvPr/>
          </p:nvSpPr>
          <p:spPr>
            <a:xfrm>
              <a:off x="0" y="-57150"/>
              <a:ext cx="4274726" cy="2236460"/>
            </a:xfrm>
            <a:prstGeom prst="rect">
              <a:avLst/>
            </a:prstGeom>
          </p:spPr>
          <p:txBody>
            <a:bodyPr anchor="ctr" rtlCol="false" tIns="50800" lIns="50800" bIns="50800" rIns="50800"/>
            <a:lstStyle/>
            <a:p>
              <a:pPr algn="ctr">
                <a:lnSpc>
                  <a:spcPts val="3450"/>
                </a:lnSpc>
              </a:pPr>
            </a:p>
          </p:txBody>
        </p:sp>
      </p:grpSp>
      <p:sp>
        <p:nvSpPr>
          <p:cNvPr name="TextBox 7" id="7"/>
          <p:cNvSpPr txBox="true"/>
          <p:nvPr/>
        </p:nvSpPr>
        <p:spPr>
          <a:xfrm rot="0">
            <a:off x="1618249" y="2383531"/>
            <a:ext cx="15051501" cy="7465695"/>
          </a:xfrm>
          <a:prstGeom prst="rect">
            <a:avLst/>
          </a:prstGeom>
        </p:spPr>
        <p:txBody>
          <a:bodyPr anchor="t" rtlCol="false" tIns="0" lIns="0" bIns="0" rIns="0">
            <a:spAutoFit/>
          </a:bodyPr>
          <a:lstStyle/>
          <a:p>
            <a:pPr algn="just" marL="604516" indent="-302258" lvl="1">
              <a:lnSpc>
                <a:spcPts val="3919"/>
              </a:lnSpc>
              <a:buAutoNum type="arabicPeriod" startAt="1"/>
            </a:pPr>
            <a:r>
              <a:rPr lang="en-US" b="true" sz="2799">
                <a:solidFill>
                  <a:srgbClr val="000000"/>
                </a:solidFill>
                <a:latin typeface="Open Sauce Bold"/>
                <a:ea typeface="Open Sauce Bold"/>
                <a:cs typeface="Open Sauce Bold"/>
                <a:sym typeface="Open Sauce Bold"/>
              </a:rPr>
              <a:t> Jam Paling Ramai untuk Berbelanja</a:t>
            </a:r>
          </a:p>
          <a:p>
            <a:pPr algn="just">
              <a:lnSpc>
                <a:spcPts val="3639"/>
              </a:lnSpc>
            </a:pPr>
            <a:r>
              <a:rPr lang="en-US" sz="2599">
                <a:solidFill>
                  <a:srgbClr val="000000"/>
                </a:solidFill>
                <a:latin typeface="Open Sauce"/>
                <a:ea typeface="Open Sauce"/>
                <a:cs typeface="Open Sauce"/>
                <a:sym typeface="Open Sauce"/>
              </a:rPr>
              <a:t>Cu</a:t>
            </a:r>
            <a:r>
              <a:rPr lang="en-US" sz="2599">
                <a:solidFill>
                  <a:srgbClr val="000000"/>
                </a:solidFill>
                <a:latin typeface="Open Sauce"/>
                <a:ea typeface="Open Sauce"/>
                <a:cs typeface="Open Sauce"/>
                <a:sym typeface="Open Sauce"/>
              </a:rPr>
              <a:t>stomer paling aktif melakukan transaksi pada jam tertentu, yang menunjukkan adanya peak hour dalam aktivitas belanja. Insight ini dapat membantu perusahaan menentukan waktu terbaik untuk promosi dan menyiapkan operasional agar lebih optimal.</a:t>
            </a:r>
          </a:p>
          <a:p>
            <a:pPr algn="just" marL="604516" indent="-302258" lvl="1">
              <a:lnSpc>
                <a:spcPts val="3919"/>
              </a:lnSpc>
              <a:buAutoNum type="arabicPeriod" startAt="1"/>
            </a:pPr>
            <a:r>
              <a:rPr lang="en-US" b="true" sz="2799">
                <a:solidFill>
                  <a:srgbClr val="000000"/>
                </a:solidFill>
                <a:latin typeface="Open Sauce Bold"/>
                <a:ea typeface="Open Sauce Bold"/>
                <a:cs typeface="Open Sauce Bold"/>
                <a:sym typeface="Open Sauce Bold"/>
              </a:rPr>
              <a:t>Hari Paling Sibuk untuk Belanja</a:t>
            </a:r>
          </a:p>
          <a:p>
            <a:pPr algn="just">
              <a:lnSpc>
                <a:spcPts val="3639"/>
              </a:lnSpc>
            </a:pPr>
            <a:r>
              <a:rPr lang="en-US" sz="2599">
                <a:solidFill>
                  <a:srgbClr val="000000"/>
                </a:solidFill>
                <a:latin typeface="Open Sauce"/>
                <a:ea typeface="Open Sauce"/>
                <a:cs typeface="Open Sauce"/>
                <a:sym typeface="Open Sauce"/>
              </a:rPr>
              <a:t>Terdapat hari tertentu dengan jumlah transaksi paling tinggi dibanding hari lainnya. Hal ini menunjukkan pola belanja mingguan customer yang dapat dimanfaatkan untuk strategi promo dan pengelolaan stok.</a:t>
            </a:r>
          </a:p>
          <a:p>
            <a:pPr algn="just" marL="604516" indent="-302258" lvl="1">
              <a:lnSpc>
                <a:spcPts val="3919"/>
              </a:lnSpc>
              <a:buAutoNum type="arabicPeriod" startAt="1"/>
            </a:pPr>
            <a:r>
              <a:rPr lang="en-US" b="true" sz="2799">
                <a:solidFill>
                  <a:srgbClr val="000000"/>
                </a:solidFill>
                <a:latin typeface="Open Sauce Bold"/>
                <a:ea typeface="Open Sauce Bold"/>
                <a:cs typeface="Open Sauce Bold"/>
                <a:sym typeface="Open Sauce Bold"/>
              </a:rPr>
              <a:t>10 </a:t>
            </a:r>
            <a:r>
              <a:rPr lang="en-US" b="true" sz="2799">
                <a:solidFill>
                  <a:srgbClr val="000000"/>
                </a:solidFill>
                <a:latin typeface="Open Sauce Bold"/>
                <a:ea typeface="Open Sauce Bold"/>
                <a:cs typeface="Open Sauce Bold"/>
                <a:sym typeface="Open Sauce Bold"/>
              </a:rPr>
              <a:t>Produk Terlaris</a:t>
            </a:r>
          </a:p>
          <a:p>
            <a:pPr algn="just">
              <a:lnSpc>
                <a:spcPts val="3639"/>
              </a:lnSpc>
            </a:pPr>
            <a:r>
              <a:rPr lang="en-US" sz="2599">
                <a:solidFill>
                  <a:srgbClr val="000000"/>
                </a:solidFill>
                <a:latin typeface="Open Sauce"/>
                <a:ea typeface="Open Sauce"/>
                <a:cs typeface="Open Sauce"/>
                <a:sym typeface="Open Sauce"/>
              </a:rPr>
              <a:t>Produk dengan jumlah pembelian tertinggi menunjukkan bahwa produk tersebut paling diminati customer. Produk terlaris dapat dijadikan prioritas dalam pengelolaan stok dan strategi pemasaran.</a:t>
            </a:r>
          </a:p>
          <a:p>
            <a:pPr algn="just" marL="604516" indent="-302258" lvl="1">
              <a:lnSpc>
                <a:spcPts val="3919"/>
              </a:lnSpc>
              <a:buAutoNum type="arabicPeriod" startAt="1"/>
            </a:pPr>
            <a:r>
              <a:rPr lang="en-US" b="true" sz="2799">
                <a:solidFill>
                  <a:srgbClr val="000000"/>
                </a:solidFill>
                <a:latin typeface="Open Sauce Bold"/>
                <a:ea typeface="Open Sauce Bold"/>
                <a:cs typeface="Open Sauce Bold"/>
                <a:sym typeface="Open Sauce Bold"/>
              </a:rPr>
              <a:t>Rata-rata Customer Melakukan Reorder</a:t>
            </a:r>
          </a:p>
          <a:p>
            <a:pPr algn="just">
              <a:lnSpc>
                <a:spcPts val="3639"/>
              </a:lnSpc>
            </a:pPr>
            <a:r>
              <a:rPr lang="en-US" sz="2599">
                <a:solidFill>
                  <a:srgbClr val="000000"/>
                </a:solidFill>
                <a:latin typeface="Open Sauce"/>
                <a:ea typeface="Open Sauce"/>
                <a:cs typeface="Open Sauce"/>
                <a:sym typeface="Open Sauce"/>
              </a:rPr>
              <a:t>Sebagian customer melakukan pembelian ulang terhadap produk yang sama, yang menunjukkan adanya loyalitas dan kepuasan terhadap produk tertentu.</a:t>
            </a:r>
          </a:p>
          <a:p>
            <a:pPr algn="just">
              <a:lnSpc>
                <a:spcPts val="3639"/>
              </a:lnSpc>
            </a:pPr>
          </a:p>
        </p:txBody>
      </p:sp>
      <p:grpSp>
        <p:nvGrpSpPr>
          <p:cNvPr name="Group 8" id="8"/>
          <p:cNvGrpSpPr/>
          <p:nvPr/>
        </p:nvGrpSpPr>
        <p:grpSpPr>
          <a:xfrm rot="0">
            <a:off x="15319911" y="9630178"/>
            <a:ext cx="3967416" cy="656822"/>
            <a:chOff x="0" y="0"/>
            <a:chExt cx="1044916" cy="172990"/>
          </a:xfrm>
        </p:grpSpPr>
        <p:sp>
          <p:nvSpPr>
            <p:cNvPr name="Freeform 9" id="9"/>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0" id="10"/>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1" id="11"/>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grpSp>
        <p:nvGrpSpPr>
          <p:cNvPr name="Group 12" id="12"/>
          <p:cNvGrpSpPr/>
          <p:nvPr/>
        </p:nvGrpSpPr>
        <p:grpSpPr>
          <a:xfrm rot="0">
            <a:off x="0" y="0"/>
            <a:ext cx="16466034" cy="1682612"/>
            <a:chOff x="0" y="0"/>
            <a:chExt cx="4336733" cy="443157"/>
          </a:xfrm>
        </p:grpSpPr>
        <p:sp>
          <p:nvSpPr>
            <p:cNvPr name="Freeform 13" id="13"/>
            <p:cNvSpPr/>
            <p:nvPr/>
          </p:nvSpPr>
          <p:spPr>
            <a:xfrm flipH="false" flipV="false" rot="0">
              <a:off x="0" y="0"/>
              <a:ext cx="4336733" cy="443157"/>
            </a:xfrm>
            <a:custGeom>
              <a:avLst/>
              <a:gdLst/>
              <a:ahLst/>
              <a:cxnLst/>
              <a:rect r="r" b="b" t="t" l="l"/>
              <a:pathLst>
                <a:path h="443157" w="4336733">
                  <a:moveTo>
                    <a:pt x="0" y="0"/>
                  </a:moveTo>
                  <a:lnTo>
                    <a:pt x="4336733" y="0"/>
                  </a:lnTo>
                  <a:lnTo>
                    <a:pt x="4336733" y="443157"/>
                  </a:lnTo>
                  <a:lnTo>
                    <a:pt x="0" y="443157"/>
                  </a:lnTo>
                  <a:close/>
                </a:path>
              </a:pathLst>
            </a:custGeom>
            <a:solidFill>
              <a:srgbClr val="FF7F50"/>
            </a:solidFill>
          </p:spPr>
        </p:sp>
        <p:sp>
          <p:nvSpPr>
            <p:cNvPr name="TextBox 14" id="14"/>
            <p:cNvSpPr txBox="true"/>
            <p:nvPr/>
          </p:nvSpPr>
          <p:spPr>
            <a:xfrm>
              <a:off x="0" y="-57150"/>
              <a:ext cx="4336733" cy="500307"/>
            </a:xfrm>
            <a:prstGeom prst="rect">
              <a:avLst/>
            </a:prstGeom>
          </p:spPr>
          <p:txBody>
            <a:bodyPr anchor="ctr" rtlCol="false" tIns="50800" lIns="50800" bIns="50800" rIns="50800"/>
            <a:lstStyle/>
            <a:p>
              <a:pPr algn="ctr">
                <a:lnSpc>
                  <a:spcPts val="3450"/>
                </a:lnSpc>
              </a:pPr>
            </a:p>
          </p:txBody>
        </p:sp>
      </p:grpSp>
      <p:sp>
        <p:nvSpPr>
          <p:cNvPr name="TextBox 15" id="15"/>
          <p:cNvSpPr txBox="true"/>
          <p:nvPr/>
        </p:nvSpPr>
        <p:spPr>
          <a:xfrm rot="0">
            <a:off x="2629289" y="347593"/>
            <a:ext cx="12351822" cy="873125"/>
          </a:xfrm>
          <a:prstGeom prst="rect">
            <a:avLst/>
          </a:prstGeom>
        </p:spPr>
        <p:txBody>
          <a:bodyPr anchor="t" rtlCol="false" tIns="0" lIns="0" bIns="0" rIns="0">
            <a:spAutoFit/>
          </a:bodyPr>
          <a:lstStyle/>
          <a:p>
            <a:pPr algn="ctr">
              <a:lnSpc>
                <a:spcPts val="7000"/>
              </a:lnSpc>
            </a:pPr>
            <a:r>
              <a:rPr lang="en-US" b="true" sz="5000" spc="40">
                <a:solidFill>
                  <a:srgbClr val="FFFFFF"/>
                </a:solidFill>
                <a:latin typeface="Neue Machina Ultra-Bold"/>
                <a:ea typeface="Neue Machina Ultra-Bold"/>
                <a:cs typeface="Neue Machina Ultra-Bold"/>
                <a:sym typeface="Neue Machina Ultra-Bold"/>
              </a:rPr>
              <a:t>Insight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15979208" y="-16267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06008" y="779894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2012432"/>
            <a:ext cx="16230600" cy="8274568"/>
            <a:chOff x="0" y="0"/>
            <a:chExt cx="4274726" cy="2179310"/>
          </a:xfrm>
        </p:grpSpPr>
        <p:sp>
          <p:nvSpPr>
            <p:cNvPr name="Freeform 5" id="5"/>
            <p:cNvSpPr/>
            <p:nvPr/>
          </p:nvSpPr>
          <p:spPr>
            <a:xfrm flipH="false" flipV="false" rot="0">
              <a:off x="0" y="0"/>
              <a:ext cx="4274726" cy="2179310"/>
            </a:xfrm>
            <a:custGeom>
              <a:avLst/>
              <a:gdLst/>
              <a:ahLst/>
              <a:cxnLst/>
              <a:rect r="r" b="b" t="t" l="l"/>
              <a:pathLst>
                <a:path h="2179310" w="4274726">
                  <a:moveTo>
                    <a:pt x="0" y="0"/>
                  </a:moveTo>
                  <a:lnTo>
                    <a:pt x="4274726" y="0"/>
                  </a:lnTo>
                  <a:lnTo>
                    <a:pt x="4274726" y="2179310"/>
                  </a:lnTo>
                  <a:lnTo>
                    <a:pt x="0" y="2179310"/>
                  </a:lnTo>
                  <a:close/>
                </a:path>
              </a:pathLst>
            </a:custGeom>
            <a:solidFill>
              <a:srgbClr val="B5D6B0"/>
            </a:solidFill>
          </p:spPr>
        </p:sp>
        <p:sp>
          <p:nvSpPr>
            <p:cNvPr name="TextBox 6" id="6"/>
            <p:cNvSpPr txBox="true"/>
            <p:nvPr/>
          </p:nvSpPr>
          <p:spPr>
            <a:xfrm>
              <a:off x="0" y="-57150"/>
              <a:ext cx="4274726" cy="2236460"/>
            </a:xfrm>
            <a:prstGeom prst="rect">
              <a:avLst/>
            </a:prstGeom>
          </p:spPr>
          <p:txBody>
            <a:bodyPr anchor="ctr" rtlCol="false" tIns="50800" lIns="50800" bIns="50800" rIns="50800"/>
            <a:lstStyle/>
            <a:p>
              <a:pPr algn="ctr">
                <a:lnSpc>
                  <a:spcPts val="3450"/>
                </a:lnSpc>
              </a:pPr>
            </a:p>
          </p:txBody>
        </p:sp>
      </p:grpSp>
      <p:grpSp>
        <p:nvGrpSpPr>
          <p:cNvPr name="Group 7" id="7"/>
          <p:cNvGrpSpPr/>
          <p:nvPr/>
        </p:nvGrpSpPr>
        <p:grpSpPr>
          <a:xfrm rot="0">
            <a:off x="0" y="0"/>
            <a:ext cx="16466034" cy="1682612"/>
            <a:chOff x="0" y="0"/>
            <a:chExt cx="4336733" cy="443157"/>
          </a:xfrm>
        </p:grpSpPr>
        <p:sp>
          <p:nvSpPr>
            <p:cNvPr name="Freeform 8" id="8"/>
            <p:cNvSpPr/>
            <p:nvPr/>
          </p:nvSpPr>
          <p:spPr>
            <a:xfrm flipH="false" flipV="false" rot="0">
              <a:off x="0" y="0"/>
              <a:ext cx="4336733" cy="443157"/>
            </a:xfrm>
            <a:custGeom>
              <a:avLst/>
              <a:gdLst/>
              <a:ahLst/>
              <a:cxnLst/>
              <a:rect r="r" b="b" t="t" l="l"/>
              <a:pathLst>
                <a:path h="443157" w="4336733">
                  <a:moveTo>
                    <a:pt x="0" y="0"/>
                  </a:moveTo>
                  <a:lnTo>
                    <a:pt x="4336733" y="0"/>
                  </a:lnTo>
                  <a:lnTo>
                    <a:pt x="4336733" y="443157"/>
                  </a:lnTo>
                  <a:lnTo>
                    <a:pt x="0" y="443157"/>
                  </a:lnTo>
                  <a:close/>
                </a:path>
              </a:pathLst>
            </a:custGeom>
            <a:solidFill>
              <a:srgbClr val="FF7F50"/>
            </a:solidFill>
          </p:spPr>
        </p:sp>
        <p:sp>
          <p:nvSpPr>
            <p:cNvPr name="TextBox 9" id="9"/>
            <p:cNvSpPr txBox="true"/>
            <p:nvPr/>
          </p:nvSpPr>
          <p:spPr>
            <a:xfrm>
              <a:off x="0" y="-57150"/>
              <a:ext cx="4336733" cy="500307"/>
            </a:xfrm>
            <a:prstGeom prst="rect">
              <a:avLst/>
            </a:prstGeom>
          </p:spPr>
          <p:txBody>
            <a:bodyPr anchor="ctr" rtlCol="false" tIns="50800" lIns="50800" bIns="50800" rIns="50800"/>
            <a:lstStyle/>
            <a:p>
              <a:pPr algn="ctr">
                <a:lnSpc>
                  <a:spcPts val="3450"/>
                </a:lnSpc>
              </a:pPr>
            </a:p>
          </p:txBody>
        </p:sp>
      </p:grpSp>
      <p:sp>
        <p:nvSpPr>
          <p:cNvPr name="TextBox 10" id="10"/>
          <p:cNvSpPr txBox="true"/>
          <p:nvPr/>
        </p:nvSpPr>
        <p:spPr>
          <a:xfrm rot="0">
            <a:off x="1461544" y="2223018"/>
            <a:ext cx="15364912" cy="7922895"/>
          </a:xfrm>
          <a:prstGeom prst="rect">
            <a:avLst/>
          </a:prstGeom>
        </p:spPr>
        <p:txBody>
          <a:bodyPr anchor="t" rtlCol="false" tIns="0" lIns="0" bIns="0" rIns="0">
            <a:spAutoFit/>
          </a:bodyPr>
          <a:lstStyle/>
          <a:p>
            <a:pPr algn="just" marL="604516" indent="-302258" lvl="1">
              <a:lnSpc>
                <a:spcPts val="3919"/>
              </a:lnSpc>
              <a:buAutoNum type="arabicPeriod" startAt="1"/>
            </a:pPr>
            <a:r>
              <a:rPr lang="en-US" b="true" sz="2799">
                <a:solidFill>
                  <a:srgbClr val="000000"/>
                </a:solidFill>
                <a:latin typeface="Open Sauce Bold"/>
                <a:ea typeface="Open Sauce Bold"/>
                <a:cs typeface="Open Sauce Bold"/>
                <a:sym typeface="Open Sauce Bold"/>
              </a:rPr>
              <a:t>Produk Organik vs Non Organik</a:t>
            </a:r>
          </a:p>
          <a:p>
            <a:pPr algn="just">
              <a:lnSpc>
                <a:spcPts val="3639"/>
              </a:lnSpc>
            </a:pPr>
            <a:r>
              <a:rPr lang="en-US" sz="2599">
                <a:solidFill>
                  <a:srgbClr val="000000"/>
                </a:solidFill>
                <a:latin typeface="Open Sauce"/>
                <a:ea typeface="Open Sauce"/>
                <a:cs typeface="Open Sauce"/>
                <a:sym typeface="Open Sauce"/>
              </a:rPr>
              <a:t>Proporsi pemb</a:t>
            </a:r>
            <a:r>
              <a:rPr lang="en-US" sz="2599">
                <a:solidFill>
                  <a:srgbClr val="000000"/>
                </a:solidFill>
                <a:latin typeface="Open Sauce"/>
                <a:ea typeface="Open Sauce"/>
                <a:cs typeface="Open Sauce"/>
                <a:sym typeface="Open Sauce"/>
              </a:rPr>
              <a:t>elian produk organik menunjukkan bahwa customer memiliki ketertarikan terhadap produk healthy lifestyle dan makanan sehat. Jika persentase produk organik cukup tinggi, hal ini menandakan adanya tren konsumsi produk sehat pada platform grocery online.</a:t>
            </a:r>
          </a:p>
          <a:p>
            <a:pPr algn="just" marL="604516" indent="-302258" lvl="1">
              <a:lnSpc>
                <a:spcPts val="3919"/>
              </a:lnSpc>
              <a:buAutoNum type="arabicPeriod" startAt="1"/>
            </a:pPr>
            <a:r>
              <a:rPr lang="en-US" b="true" sz="2799">
                <a:solidFill>
                  <a:srgbClr val="000000"/>
                </a:solidFill>
                <a:latin typeface="Open Sauce Bold"/>
                <a:ea typeface="Open Sauce Bold"/>
                <a:cs typeface="Open Sauce Bold"/>
                <a:sym typeface="Open Sauce Bold"/>
              </a:rPr>
              <a:t>Custome</a:t>
            </a:r>
            <a:r>
              <a:rPr lang="en-US" b="true" sz="2799">
                <a:solidFill>
                  <a:srgbClr val="000000"/>
                </a:solidFill>
                <a:latin typeface="Open Sauce Bold"/>
                <a:ea typeface="Open Sauce Bold"/>
                <a:cs typeface="Open Sauce Bold"/>
                <a:sym typeface="Open Sauce Bold"/>
              </a:rPr>
              <a:t>r Activity Timeline</a:t>
            </a:r>
          </a:p>
          <a:p>
            <a:pPr algn="just">
              <a:lnSpc>
                <a:spcPts val="3639"/>
              </a:lnSpc>
            </a:pPr>
            <a:r>
              <a:rPr lang="en-US" sz="2599">
                <a:solidFill>
                  <a:srgbClr val="000000"/>
                </a:solidFill>
                <a:latin typeface="Open Sauce"/>
                <a:ea typeface="Open Sauce"/>
                <a:cs typeface="Open Sauce"/>
                <a:sym typeface="Open Sauce"/>
              </a:rPr>
              <a:t>Aktivitas custom</a:t>
            </a:r>
            <a:r>
              <a:rPr lang="en-US" sz="2599">
                <a:solidFill>
                  <a:srgbClr val="000000"/>
                </a:solidFill>
                <a:latin typeface="Open Sauce"/>
                <a:ea typeface="Open Sauce"/>
                <a:cs typeface="Open Sauce"/>
                <a:sym typeface="Open Sauce"/>
              </a:rPr>
              <a:t>er meningkat pada jam tertentu dan mencapai puncak pada periode siang hingga sore hari. Hal ini menunjukkan adanya pola waktu belanja customer yang cukup konsisten setiap harinya.</a:t>
            </a:r>
          </a:p>
          <a:p>
            <a:pPr algn="just" marL="604516" indent="-302258" lvl="1">
              <a:lnSpc>
                <a:spcPts val="3919"/>
              </a:lnSpc>
              <a:buAutoNum type="arabicPeriod" startAt="1"/>
            </a:pPr>
            <a:r>
              <a:rPr lang="en-US" b="true" sz="2799">
                <a:solidFill>
                  <a:srgbClr val="000000"/>
                </a:solidFill>
                <a:latin typeface="Open Sauce Bold"/>
                <a:ea typeface="Open Sauce Bold"/>
                <a:cs typeface="Open Sauce Bold"/>
                <a:sym typeface="Open Sauce Bold"/>
              </a:rPr>
              <a:t> R</a:t>
            </a:r>
            <a:r>
              <a:rPr lang="en-US" b="true" sz="2799">
                <a:solidFill>
                  <a:srgbClr val="000000"/>
                </a:solidFill>
                <a:latin typeface="Open Sauce Bold"/>
                <a:ea typeface="Open Sauce Bold"/>
                <a:cs typeface="Open Sauce Bold"/>
                <a:sym typeface="Open Sauce Bold"/>
              </a:rPr>
              <a:t>eorder vs Non Re Order</a:t>
            </a:r>
          </a:p>
          <a:p>
            <a:pPr algn="just">
              <a:lnSpc>
                <a:spcPts val="3639"/>
              </a:lnSpc>
            </a:pPr>
            <a:r>
              <a:rPr lang="en-US" sz="2599">
                <a:solidFill>
                  <a:srgbClr val="000000"/>
                </a:solidFill>
                <a:latin typeface="Open Sauce"/>
                <a:ea typeface="Open Sauce"/>
                <a:cs typeface="Open Sauce"/>
                <a:sym typeface="Open Sauce"/>
              </a:rPr>
              <a:t>S</a:t>
            </a:r>
            <a:r>
              <a:rPr lang="en-US" sz="2599">
                <a:solidFill>
                  <a:srgbClr val="000000"/>
                </a:solidFill>
                <a:latin typeface="Open Sauce"/>
                <a:ea typeface="Open Sauce"/>
                <a:cs typeface="Open Sauce"/>
                <a:sym typeface="Open Sauce"/>
              </a:rPr>
              <a:t>ebagian besar transaksi berasal dari produk yang pernah dibeli sebelumnya (reordered). Hal ini menunjukkan customer memiliki loyalitas tinggi terhadap produk tertentu dan cenderung membeli kebutuhan rutin secara berulang.</a:t>
            </a:r>
          </a:p>
          <a:p>
            <a:pPr algn="just" marL="604516" indent="-302258" lvl="1">
              <a:lnSpc>
                <a:spcPts val="3919"/>
              </a:lnSpc>
              <a:buAutoNum type="arabicPeriod" startAt="1"/>
            </a:pPr>
            <a:r>
              <a:rPr lang="en-US" b="true" sz="2799">
                <a:solidFill>
                  <a:srgbClr val="000000"/>
                </a:solidFill>
                <a:latin typeface="Open Sauce Bold"/>
                <a:ea typeface="Open Sauce Bold"/>
                <a:cs typeface="Open Sauce Bold"/>
                <a:sym typeface="Open Sauce Bold"/>
              </a:rPr>
              <a:t>Hubungan antara barang dimasukkan dan barang Re Order</a:t>
            </a:r>
          </a:p>
          <a:p>
            <a:pPr algn="just">
              <a:lnSpc>
                <a:spcPts val="3639"/>
              </a:lnSpc>
            </a:pPr>
            <a:r>
              <a:rPr lang="en-US" sz="2599">
                <a:solidFill>
                  <a:srgbClr val="000000"/>
                </a:solidFill>
                <a:latin typeface="Open Sauce"/>
                <a:ea typeface="Open Sauce"/>
                <a:cs typeface="Open Sauce"/>
                <a:sym typeface="Open Sauce"/>
              </a:rPr>
              <a:t>T</a:t>
            </a:r>
            <a:r>
              <a:rPr lang="en-US" sz="2599">
                <a:solidFill>
                  <a:srgbClr val="000000"/>
                </a:solidFill>
                <a:latin typeface="Open Sauce"/>
                <a:ea typeface="Open Sauce"/>
                <a:cs typeface="Open Sauce"/>
                <a:sym typeface="Open Sauce"/>
              </a:rPr>
              <a:t>erdapat hubungan antara urutan produk dimasukkan ke keranjang (add_to_cart_order) dengan kemungkinan produk tersebut direorder. Produk yang dimasukkan lebih awal ke keranjang cenderung merupakan kebutuhan utama dan lebih sering dibeli ulang.</a:t>
            </a:r>
          </a:p>
          <a:p>
            <a:pPr algn="just">
              <a:lnSpc>
                <a:spcPts val="3639"/>
              </a:lnSpc>
            </a:pPr>
          </a:p>
        </p:txBody>
      </p:sp>
      <p:grpSp>
        <p:nvGrpSpPr>
          <p:cNvPr name="Group 11" id="11"/>
          <p:cNvGrpSpPr/>
          <p:nvPr/>
        </p:nvGrpSpPr>
        <p:grpSpPr>
          <a:xfrm rot="0">
            <a:off x="15319911" y="9630178"/>
            <a:ext cx="3967416" cy="656822"/>
            <a:chOff x="0" y="0"/>
            <a:chExt cx="1044916" cy="172990"/>
          </a:xfrm>
        </p:grpSpPr>
        <p:sp>
          <p:nvSpPr>
            <p:cNvPr name="Freeform 12" id="12"/>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3" id="13"/>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4" id="14"/>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
        <p:nvSpPr>
          <p:cNvPr name="TextBox 15" id="15"/>
          <p:cNvSpPr txBox="true"/>
          <p:nvPr/>
        </p:nvSpPr>
        <p:spPr>
          <a:xfrm rot="0">
            <a:off x="2629289" y="347593"/>
            <a:ext cx="12351822" cy="873125"/>
          </a:xfrm>
          <a:prstGeom prst="rect">
            <a:avLst/>
          </a:prstGeom>
        </p:spPr>
        <p:txBody>
          <a:bodyPr anchor="t" rtlCol="false" tIns="0" lIns="0" bIns="0" rIns="0">
            <a:spAutoFit/>
          </a:bodyPr>
          <a:lstStyle/>
          <a:p>
            <a:pPr algn="ctr">
              <a:lnSpc>
                <a:spcPts val="7000"/>
              </a:lnSpc>
            </a:pPr>
            <a:r>
              <a:rPr lang="en-US" b="true" sz="5000" spc="40">
                <a:solidFill>
                  <a:srgbClr val="FFFFFF"/>
                </a:solidFill>
                <a:latin typeface="Neue Machina Ultra-Bold"/>
                <a:ea typeface="Neue Machina Ultra-Bold"/>
                <a:cs typeface="Neue Machina Ultra-Bold"/>
                <a:sym typeface="Neue Machina Ultra-Bold"/>
              </a:rPr>
              <a:t>Insight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821966" y="0"/>
            <a:ext cx="16466034" cy="1873568"/>
            <a:chOff x="0" y="0"/>
            <a:chExt cx="4336733" cy="493450"/>
          </a:xfrm>
        </p:grpSpPr>
        <p:sp>
          <p:nvSpPr>
            <p:cNvPr name="Freeform 4" id="4"/>
            <p:cNvSpPr/>
            <p:nvPr/>
          </p:nvSpPr>
          <p:spPr>
            <a:xfrm flipH="false" flipV="false" rot="0">
              <a:off x="0" y="0"/>
              <a:ext cx="4336733" cy="493450"/>
            </a:xfrm>
            <a:custGeom>
              <a:avLst/>
              <a:gdLst/>
              <a:ahLst/>
              <a:cxnLst/>
              <a:rect r="r" b="b" t="t" l="l"/>
              <a:pathLst>
                <a:path h="493450" w="4336733">
                  <a:moveTo>
                    <a:pt x="0" y="0"/>
                  </a:moveTo>
                  <a:lnTo>
                    <a:pt x="4336733" y="0"/>
                  </a:lnTo>
                  <a:lnTo>
                    <a:pt x="4336733" y="493450"/>
                  </a:lnTo>
                  <a:lnTo>
                    <a:pt x="0" y="493450"/>
                  </a:lnTo>
                  <a:close/>
                </a:path>
              </a:pathLst>
            </a:custGeom>
            <a:solidFill>
              <a:srgbClr val="D6483A"/>
            </a:solidFill>
          </p:spPr>
        </p:sp>
        <p:sp>
          <p:nvSpPr>
            <p:cNvPr name="TextBox 5" id="5"/>
            <p:cNvSpPr txBox="true"/>
            <p:nvPr/>
          </p:nvSpPr>
          <p:spPr>
            <a:xfrm>
              <a:off x="0" y="-57150"/>
              <a:ext cx="4336733" cy="550600"/>
            </a:xfrm>
            <a:prstGeom prst="rect">
              <a:avLst/>
            </a:prstGeom>
          </p:spPr>
          <p:txBody>
            <a:bodyPr anchor="ctr" rtlCol="false" tIns="50800" lIns="50800" bIns="50800" rIns="50800"/>
            <a:lstStyle/>
            <a:p>
              <a:pPr algn="ctr">
                <a:lnSpc>
                  <a:spcPts val="3450"/>
                </a:lnSpc>
              </a:pPr>
            </a:p>
          </p:txBody>
        </p:sp>
      </p:grpSp>
      <p:sp>
        <p:nvSpPr>
          <p:cNvPr name="Freeform 6" id="6"/>
          <p:cNvSpPr/>
          <p:nvPr/>
        </p:nvSpPr>
        <p:spPr>
          <a:xfrm flipH="false" flipV="false" rot="0">
            <a:off x="15319911" y="780222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357247" y="534988"/>
            <a:ext cx="12351822" cy="873125"/>
          </a:xfrm>
          <a:prstGeom prst="rect">
            <a:avLst/>
          </a:prstGeom>
        </p:spPr>
        <p:txBody>
          <a:bodyPr anchor="t" rtlCol="false" tIns="0" lIns="0" bIns="0" rIns="0">
            <a:spAutoFit/>
          </a:bodyPr>
          <a:lstStyle/>
          <a:p>
            <a:pPr algn="ctr">
              <a:lnSpc>
                <a:spcPts val="7000"/>
              </a:lnSpc>
            </a:pPr>
            <a:r>
              <a:rPr lang="en-US" b="true" sz="5000" spc="40">
                <a:solidFill>
                  <a:srgbClr val="FFFFFF"/>
                </a:solidFill>
                <a:latin typeface="Neue Machina Ultra-Bold"/>
                <a:ea typeface="Neue Machina Ultra-Bold"/>
                <a:cs typeface="Neue Machina Ultra-Bold"/>
                <a:sym typeface="Neue Machina Ultra-Bold"/>
              </a:rPr>
              <a:t>Recommendation</a:t>
            </a:r>
          </a:p>
        </p:txBody>
      </p:sp>
      <p:grpSp>
        <p:nvGrpSpPr>
          <p:cNvPr name="Group 8" id="8"/>
          <p:cNvGrpSpPr/>
          <p:nvPr/>
        </p:nvGrpSpPr>
        <p:grpSpPr>
          <a:xfrm rot="0">
            <a:off x="1028700" y="2359243"/>
            <a:ext cx="16230600" cy="7927757"/>
            <a:chOff x="0" y="0"/>
            <a:chExt cx="4274726" cy="2087969"/>
          </a:xfrm>
        </p:grpSpPr>
        <p:sp>
          <p:nvSpPr>
            <p:cNvPr name="Freeform 9" id="9"/>
            <p:cNvSpPr/>
            <p:nvPr/>
          </p:nvSpPr>
          <p:spPr>
            <a:xfrm flipH="false" flipV="false" rot="0">
              <a:off x="0" y="0"/>
              <a:ext cx="4274726" cy="2087969"/>
            </a:xfrm>
            <a:custGeom>
              <a:avLst/>
              <a:gdLst/>
              <a:ahLst/>
              <a:cxnLst/>
              <a:rect r="r" b="b" t="t" l="l"/>
              <a:pathLst>
                <a:path h="2087969" w="4274726">
                  <a:moveTo>
                    <a:pt x="0" y="0"/>
                  </a:moveTo>
                  <a:lnTo>
                    <a:pt x="4274726" y="0"/>
                  </a:lnTo>
                  <a:lnTo>
                    <a:pt x="4274726" y="2087969"/>
                  </a:lnTo>
                  <a:lnTo>
                    <a:pt x="0" y="2087969"/>
                  </a:lnTo>
                  <a:close/>
                </a:path>
              </a:pathLst>
            </a:custGeom>
            <a:solidFill>
              <a:srgbClr val="B5D6B0"/>
            </a:solidFill>
          </p:spPr>
        </p:sp>
        <p:sp>
          <p:nvSpPr>
            <p:cNvPr name="TextBox 10" id="10"/>
            <p:cNvSpPr txBox="true"/>
            <p:nvPr/>
          </p:nvSpPr>
          <p:spPr>
            <a:xfrm>
              <a:off x="0" y="-57150"/>
              <a:ext cx="4274726" cy="2145119"/>
            </a:xfrm>
            <a:prstGeom prst="rect">
              <a:avLst/>
            </a:prstGeom>
          </p:spPr>
          <p:txBody>
            <a:bodyPr anchor="ctr" rtlCol="false" tIns="50800" lIns="50800" bIns="50800" rIns="50800"/>
            <a:lstStyle/>
            <a:p>
              <a:pPr algn="ctr">
                <a:lnSpc>
                  <a:spcPts val="3450"/>
                </a:lnSpc>
              </a:pPr>
            </a:p>
          </p:txBody>
        </p:sp>
      </p:grpSp>
      <p:sp>
        <p:nvSpPr>
          <p:cNvPr name="TextBox 11" id="11"/>
          <p:cNvSpPr txBox="true"/>
          <p:nvPr/>
        </p:nvSpPr>
        <p:spPr>
          <a:xfrm rot="0">
            <a:off x="1821966" y="2889359"/>
            <a:ext cx="14644068" cy="6165215"/>
          </a:xfrm>
          <a:prstGeom prst="rect">
            <a:avLst/>
          </a:prstGeom>
        </p:spPr>
        <p:txBody>
          <a:bodyPr anchor="t" rtlCol="false" tIns="0" lIns="0" bIns="0" rIns="0">
            <a:spAutoFit/>
          </a:bodyPr>
          <a:lstStyle/>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Mengoptimalkan stok pada jam dan hari paling ramai.</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Memfokuskan promosi pada peak shopping hour.</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Memprioritaskan produk terlaris agar tidak out of stock.</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Memberikan promo khusus untuk produk dengan reorder tinggi.</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Menggunakan sistem rekomendasi berdasarkan riwayat pembelian customer.</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Meningkatkan strategi loyalty program untuk mempertahankan customer.</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Berfokus pada department dengan tingkat reorder tertinggi.</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Mengevalusi produk dengan reorder rendah untuk meningkatkan minat customer.</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Meningkatkan pemasaran produk organik jika demand tinggi.</a:t>
            </a:r>
          </a:p>
          <a:p>
            <a:pPr algn="just" marL="626107" indent="-313054" lvl="1">
              <a:lnSpc>
                <a:spcPts val="4059"/>
              </a:lnSpc>
              <a:buFont typeface="Arial"/>
              <a:buChar char="•"/>
            </a:pPr>
            <a:r>
              <a:rPr lang="en-US" sz="2899">
                <a:solidFill>
                  <a:srgbClr val="000000"/>
                </a:solidFill>
                <a:latin typeface="Open Sauce"/>
                <a:ea typeface="Open Sauce"/>
                <a:cs typeface="Open Sauce"/>
                <a:sym typeface="Open Sauce"/>
              </a:rPr>
              <a:t>Menggunakan insight aktivitas customer untuk mengatur operasional dan campaign marketing.</a:t>
            </a:r>
          </a:p>
        </p:txBody>
      </p:sp>
      <p:grpSp>
        <p:nvGrpSpPr>
          <p:cNvPr name="Group 12" id="12"/>
          <p:cNvGrpSpPr/>
          <p:nvPr/>
        </p:nvGrpSpPr>
        <p:grpSpPr>
          <a:xfrm rot="0">
            <a:off x="15319911" y="9630178"/>
            <a:ext cx="3967416" cy="656822"/>
            <a:chOff x="0" y="0"/>
            <a:chExt cx="1044916" cy="172990"/>
          </a:xfrm>
        </p:grpSpPr>
        <p:sp>
          <p:nvSpPr>
            <p:cNvPr name="Freeform 13" id="13"/>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4" id="14"/>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5" id="15"/>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3F2"/>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359243"/>
            <a:ext cx="16230600" cy="7927757"/>
            <a:chOff x="0" y="0"/>
            <a:chExt cx="4274726" cy="2087969"/>
          </a:xfrm>
        </p:grpSpPr>
        <p:sp>
          <p:nvSpPr>
            <p:cNvPr name="Freeform 4" id="4"/>
            <p:cNvSpPr/>
            <p:nvPr/>
          </p:nvSpPr>
          <p:spPr>
            <a:xfrm flipH="false" flipV="false" rot="0">
              <a:off x="0" y="0"/>
              <a:ext cx="4274726" cy="2087969"/>
            </a:xfrm>
            <a:custGeom>
              <a:avLst/>
              <a:gdLst/>
              <a:ahLst/>
              <a:cxnLst/>
              <a:rect r="r" b="b" t="t" l="l"/>
              <a:pathLst>
                <a:path h="2087969" w="4274726">
                  <a:moveTo>
                    <a:pt x="0" y="0"/>
                  </a:moveTo>
                  <a:lnTo>
                    <a:pt x="4274726" y="0"/>
                  </a:lnTo>
                  <a:lnTo>
                    <a:pt x="4274726" y="2087969"/>
                  </a:lnTo>
                  <a:lnTo>
                    <a:pt x="0" y="2087969"/>
                  </a:lnTo>
                  <a:close/>
                </a:path>
              </a:pathLst>
            </a:custGeom>
            <a:solidFill>
              <a:srgbClr val="B5D6B0"/>
            </a:solidFill>
          </p:spPr>
        </p:sp>
        <p:sp>
          <p:nvSpPr>
            <p:cNvPr name="TextBox 5" id="5"/>
            <p:cNvSpPr txBox="true"/>
            <p:nvPr/>
          </p:nvSpPr>
          <p:spPr>
            <a:xfrm>
              <a:off x="0" y="-57150"/>
              <a:ext cx="4274726" cy="2145119"/>
            </a:xfrm>
            <a:prstGeom prst="rect">
              <a:avLst/>
            </a:prstGeom>
          </p:spPr>
          <p:txBody>
            <a:bodyPr anchor="ctr" rtlCol="false" tIns="50800" lIns="50800" bIns="50800" rIns="50800"/>
            <a:lstStyle/>
            <a:p>
              <a:pPr algn="ctr">
                <a:lnSpc>
                  <a:spcPts val="3450"/>
                </a:lnSpc>
              </a:pPr>
            </a:p>
          </p:txBody>
        </p:sp>
      </p:grpSp>
      <p:sp>
        <p:nvSpPr>
          <p:cNvPr name="Freeform 6" id="6"/>
          <p:cNvSpPr/>
          <p:nvPr/>
        </p:nvSpPr>
        <p:spPr>
          <a:xfrm flipH="false" flipV="false" rot="0">
            <a:off x="15319911" y="780222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821966" y="0"/>
            <a:ext cx="16466034" cy="1873568"/>
            <a:chOff x="0" y="0"/>
            <a:chExt cx="4336733" cy="493450"/>
          </a:xfrm>
        </p:grpSpPr>
        <p:sp>
          <p:nvSpPr>
            <p:cNvPr name="Freeform 8" id="8"/>
            <p:cNvSpPr/>
            <p:nvPr/>
          </p:nvSpPr>
          <p:spPr>
            <a:xfrm flipH="false" flipV="false" rot="0">
              <a:off x="0" y="0"/>
              <a:ext cx="4336733" cy="493450"/>
            </a:xfrm>
            <a:custGeom>
              <a:avLst/>
              <a:gdLst/>
              <a:ahLst/>
              <a:cxnLst/>
              <a:rect r="r" b="b" t="t" l="l"/>
              <a:pathLst>
                <a:path h="493450" w="4336733">
                  <a:moveTo>
                    <a:pt x="0" y="0"/>
                  </a:moveTo>
                  <a:lnTo>
                    <a:pt x="4336733" y="0"/>
                  </a:lnTo>
                  <a:lnTo>
                    <a:pt x="4336733" y="493450"/>
                  </a:lnTo>
                  <a:lnTo>
                    <a:pt x="0" y="493450"/>
                  </a:lnTo>
                  <a:close/>
                </a:path>
              </a:pathLst>
            </a:custGeom>
            <a:solidFill>
              <a:srgbClr val="D6483A"/>
            </a:solidFill>
          </p:spPr>
        </p:sp>
        <p:sp>
          <p:nvSpPr>
            <p:cNvPr name="TextBox 9" id="9"/>
            <p:cNvSpPr txBox="true"/>
            <p:nvPr/>
          </p:nvSpPr>
          <p:spPr>
            <a:xfrm>
              <a:off x="0" y="-57150"/>
              <a:ext cx="4336733" cy="550600"/>
            </a:xfrm>
            <a:prstGeom prst="rect">
              <a:avLst/>
            </a:prstGeom>
          </p:spPr>
          <p:txBody>
            <a:bodyPr anchor="ctr" rtlCol="false" tIns="50800" lIns="50800" bIns="50800" rIns="50800"/>
            <a:lstStyle/>
            <a:p>
              <a:pPr algn="ctr">
                <a:lnSpc>
                  <a:spcPts val="3450"/>
                </a:lnSpc>
              </a:pPr>
            </a:p>
          </p:txBody>
        </p:sp>
      </p:grpSp>
      <p:sp>
        <p:nvSpPr>
          <p:cNvPr name="TextBox 10" id="10"/>
          <p:cNvSpPr txBox="true"/>
          <p:nvPr/>
        </p:nvSpPr>
        <p:spPr>
          <a:xfrm rot="0">
            <a:off x="3357247" y="534988"/>
            <a:ext cx="12351822" cy="873125"/>
          </a:xfrm>
          <a:prstGeom prst="rect">
            <a:avLst/>
          </a:prstGeom>
        </p:spPr>
        <p:txBody>
          <a:bodyPr anchor="t" rtlCol="false" tIns="0" lIns="0" bIns="0" rIns="0">
            <a:spAutoFit/>
          </a:bodyPr>
          <a:lstStyle/>
          <a:p>
            <a:pPr algn="ctr">
              <a:lnSpc>
                <a:spcPts val="7000"/>
              </a:lnSpc>
            </a:pPr>
            <a:r>
              <a:rPr lang="en-US" b="true" sz="5000" spc="40">
                <a:solidFill>
                  <a:srgbClr val="FFFFFF"/>
                </a:solidFill>
                <a:latin typeface="Neue Machina Ultra-Bold"/>
                <a:ea typeface="Neue Machina Ultra-Bold"/>
                <a:cs typeface="Neue Machina Ultra-Bold"/>
                <a:sym typeface="Neue Machina Ultra-Bold"/>
              </a:rPr>
              <a:t>Conclusion</a:t>
            </a:r>
          </a:p>
        </p:txBody>
      </p:sp>
      <p:sp>
        <p:nvSpPr>
          <p:cNvPr name="TextBox 11" id="11"/>
          <p:cNvSpPr txBox="true"/>
          <p:nvPr/>
        </p:nvSpPr>
        <p:spPr>
          <a:xfrm rot="0">
            <a:off x="1821966" y="2849129"/>
            <a:ext cx="14644068" cy="7296785"/>
          </a:xfrm>
          <a:prstGeom prst="rect">
            <a:avLst/>
          </a:prstGeom>
        </p:spPr>
        <p:txBody>
          <a:bodyPr anchor="t" rtlCol="false" tIns="0" lIns="0" bIns="0" rIns="0">
            <a:spAutoFit/>
          </a:bodyPr>
          <a:lstStyle/>
          <a:p>
            <a:pPr algn="just">
              <a:lnSpc>
                <a:spcPts val="3639"/>
              </a:lnSpc>
            </a:pPr>
            <a:r>
              <a:rPr lang="en-US" sz="2599">
                <a:solidFill>
                  <a:srgbClr val="000000"/>
                </a:solidFill>
                <a:latin typeface="Open Sauce"/>
                <a:ea typeface="Open Sauce"/>
                <a:cs typeface="Open Sauce"/>
                <a:sym typeface="Open Sauce"/>
              </a:rPr>
              <a:t>Berdasarkan hasil analisis dataset grocery online, dapat disimpulkan bahwa customer memiliki pola belanja yang cukup konsisten dengan aktivitas transaksi tertinggi pada jam dan hari tertentu. Produk kebutuhan harian, terutama kategori fresh grocery dan produk organik, menjadi produk yang paling diminati customer dan memiliki tingkat pembelian ulang yang tinggi.</a:t>
            </a:r>
          </a:p>
          <a:p>
            <a:pPr algn="just">
              <a:lnSpc>
                <a:spcPts val="3639"/>
              </a:lnSpc>
            </a:pPr>
            <a:r>
              <a:rPr lang="en-US" sz="2599">
                <a:solidFill>
                  <a:srgbClr val="000000"/>
                </a:solidFill>
                <a:latin typeface="Open Sauce"/>
                <a:ea typeface="Open Sauce"/>
                <a:cs typeface="Open Sauce"/>
                <a:sym typeface="Open Sauce"/>
              </a:rPr>
              <a:t>Tingginya Re Order rate menunjukkan bahwa sebagian besar customer memiliki loyalitas terhadap produk tertentu dan cenderung melakukan repeat purchase secara rutin. Selain itu, department tertentu memiliki kontribusi besar terhadap total transaksi sehingga menjadi kategori utama dalam penggerak bisnis.</a:t>
            </a:r>
          </a:p>
          <a:p>
            <a:pPr algn="just">
              <a:lnSpc>
                <a:spcPts val="3639"/>
              </a:lnSpc>
            </a:pPr>
            <a:r>
              <a:rPr lang="en-US" sz="2599">
                <a:solidFill>
                  <a:srgbClr val="000000"/>
                </a:solidFill>
                <a:latin typeface="Open Sauce"/>
                <a:ea typeface="Open Sauce"/>
                <a:cs typeface="Open Sauce"/>
                <a:sym typeface="Open Sauce"/>
              </a:rPr>
              <a:t>Dari insight tersebut, perusahaan dapat mengoptimalkan strategi bisnis melalui pengelolaan stok yang lebih efektif, fokus promosi pada peak shopping hour, pengembangan loyalty program, serta penerapan personalized recommendation berdasarkan riwayat pembelian customer. Dengan memanfaatkan pola aktivitas dan preferensi customer, perusahaan dapat meningkatkan customer retention, operasional yang lebih efisien, serta mendorong peningkatan penjualan secara berkelanjutan.</a:t>
            </a:r>
          </a:p>
          <a:p>
            <a:pPr algn="just">
              <a:lnSpc>
                <a:spcPts val="3639"/>
              </a:lnSpc>
            </a:pPr>
          </a:p>
        </p:txBody>
      </p:sp>
      <p:grpSp>
        <p:nvGrpSpPr>
          <p:cNvPr name="Group 12" id="12"/>
          <p:cNvGrpSpPr/>
          <p:nvPr/>
        </p:nvGrpSpPr>
        <p:grpSpPr>
          <a:xfrm rot="0">
            <a:off x="15319911" y="9630178"/>
            <a:ext cx="3967416" cy="656822"/>
            <a:chOff x="0" y="0"/>
            <a:chExt cx="1044916" cy="172990"/>
          </a:xfrm>
        </p:grpSpPr>
        <p:sp>
          <p:nvSpPr>
            <p:cNvPr name="Freeform 13" id="13"/>
            <p:cNvSpPr/>
            <p:nvPr/>
          </p:nvSpPr>
          <p:spPr>
            <a:xfrm flipH="false" flipV="false" rot="0">
              <a:off x="0" y="0"/>
              <a:ext cx="1044916" cy="172990"/>
            </a:xfrm>
            <a:custGeom>
              <a:avLst/>
              <a:gdLst/>
              <a:ahLst/>
              <a:cxnLst/>
              <a:rect r="r" b="b" t="t" l="l"/>
              <a:pathLst>
                <a:path h="172990" w="1044916">
                  <a:moveTo>
                    <a:pt x="44882" y="0"/>
                  </a:moveTo>
                  <a:lnTo>
                    <a:pt x="1000034" y="0"/>
                  </a:lnTo>
                  <a:cubicBezTo>
                    <a:pt x="1011938" y="0"/>
                    <a:pt x="1023354" y="4729"/>
                    <a:pt x="1031771" y="13146"/>
                  </a:cubicBezTo>
                  <a:cubicBezTo>
                    <a:pt x="1040187" y="21562"/>
                    <a:pt x="1044916" y="32978"/>
                    <a:pt x="1044916" y="44882"/>
                  </a:cubicBezTo>
                  <a:lnTo>
                    <a:pt x="1044916" y="128109"/>
                  </a:lnTo>
                  <a:cubicBezTo>
                    <a:pt x="1044916" y="140012"/>
                    <a:pt x="1040187" y="151428"/>
                    <a:pt x="1031771" y="159845"/>
                  </a:cubicBezTo>
                  <a:cubicBezTo>
                    <a:pt x="1023354" y="168262"/>
                    <a:pt x="1011938" y="172990"/>
                    <a:pt x="1000034" y="172990"/>
                  </a:cubicBezTo>
                  <a:lnTo>
                    <a:pt x="44882" y="172990"/>
                  </a:lnTo>
                  <a:cubicBezTo>
                    <a:pt x="32978" y="172990"/>
                    <a:pt x="21562" y="168262"/>
                    <a:pt x="13146" y="159845"/>
                  </a:cubicBezTo>
                  <a:cubicBezTo>
                    <a:pt x="4729" y="151428"/>
                    <a:pt x="0" y="140012"/>
                    <a:pt x="0" y="128109"/>
                  </a:cubicBezTo>
                  <a:lnTo>
                    <a:pt x="0" y="44882"/>
                  </a:lnTo>
                  <a:cubicBezTo>
                    <a:pt x="0" y="32978"/>
                    <a:pt x="4729" y="21562"/>
                    <a:pt x="13146" y="13146"/>
                  </a:cubicBezTo>
                  <a:cubicBezTo>
                    <a:pt x="21562" y="4729"/>
                    <a:pt x="32978" y="0"/>
                    <a:pt x="44882" y="0"/>
                  </a:cubicBezTo>
                  <a:close/>
                </a:path>
              </a:pathLst>
            </a:custGeom>
            <a:solidFill>
              <a:srgbClr val="818080"/>
            </a:solidFill>
          </p:spPr>
        </p:sp>
        <p:sp>
          <p:nvSpPr>
            <p:cNvPr name="TextBox 14" id="14"/>
            <p:cNvSpPr txBox="true"/>
            <p:nvPr/>
          </p:nvSpPr>
          <p:spPr>
            <a:xfrm>
              <a:off x="0" y="-57150"/>
              <a:ext cx="1044916" cy="230140"/>
            </a:xfrm>
            <a:prstGeom prst="rect">
              <a:avLst/>
            </a:prstGeom>
          </p:spPr>
          <p:txBody>
            <a:bodyPr anchor="ctr" rtlCol="false" tIns="50800" lIns="50800" bIns="50800" rIns="50800"/>
            <a:lstStyle/>
            <a:p>
              <a:pPr algn="ctr">
                <a:lnSpc>
                  <a:spcPts val="3450"/>
                </a:lnSpc>
              </a:pPr>
            </a:p>
          </p:txBody>
        </p:sp>
      </p:grpSp>
      <p:sp>
        <p:nvSpPr>
          <p:cNvPr name="TextBox 15" id="15"/>
          <p:cNvSpPr txBox="true"/>
          <p:nvPr/>
        </p:nvSpPr>
        <p:spPr>
          <a:xfrm rot="0">
            <a:off x="15709069" y="9723639"/>
            <a:ext cx="2716697" cy="422275"/>
          </a:xfrm>
          <a:prstGeom prst="rect">
            <a:avLst/>
          </a:prstGeom>
        </p:spPr>
        <p:txBody>
          <a:bodyPr anchor="t" rtlCol="false" tIns="0" lIns="0" bIns="0" rIns="0">
            <a:spAutoFit/>
          </a:bodyPr>
          <a:lstStyle/>
          <a:p>
            <a:pPr algn="l">
              <a:lnSpc>
                <a:spcPts val="3500"/>
              </a:lnSpc>
            </a:pPr>
            <a:r>
              <a:rPr lang="en-US" b="true" sz="2500">
                <a:solidFill>
                  <a:srgbClr val="E1EBED"/>
                </a:solidFill>
                <a:latin typeface="Montserrat Bold"/>
                <a:ea typeface="Montserrat Bold"/>
                <a:cs typeface="Montserrat Bold"/>
                <a:sym typeface="Montserrat Bold"/>
              </a:rPr>
              <a:t>KELOMPOK 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321699">
            <a:off x="13153281" y="-3259954"/>
            <a:ext cx="7576350" cy="7982745"/>
          </a:xfrm>
          <a:custGeom>
            <a:avLst/>
            <a:gdLst/>
            <a:ahLst/>
            <a:cxnLst/>
            <a:rect r="r" b="b" t="t" l="l"/>
            <a:pathLst>
              <a:path h="7982745" w="7576350">
                <a:moveTo>
                  <a:pt x="0" y="0"/>
                </a:moveTo>
                <a:lnTo>
                  <a:pt x="7576350" y="0"/>
                </a:lnTo>
                <a:lnTo>
                  <a:pt x="7576350" y="7982745"/>
                </a:lnTo>
                <a:lnTo>
                  <a:pt x="0" y="7982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23549" y="2111340"/>
            <a:ext cx="5079141" cy="6064320"/>
          </a:xfrm>
          <a:custGeom>
            <a:avLst/>
            <a:gdLst/>
            <a:ahLst/>
            <a:cxnLst/>
            <a:rect r="r" b="b" t="t" l="l"/>
            <a:pathLst>
              <a:path h="6064320" w="5079141">
                <a:moveTo>
                  <a:pt x="0" y="0"/>
                </a:moveTo>
                <a:lnTo>
                  <a:pt x="5079141" y="0"/>
                </a:lnTo>
                <a:lnTo>
                  <a:pt x="5079141" y="6064320"/>
                </a:lnTo>
                <a:lnTo>
                  <a:pt x="0" y="6064320"/>
                </a:lnTo>
                <a:lnTo>
                  <a:pt x="0" y="0"/>
                </a:lnTo>
                <a:close/>
              </a:path>
            </a:pathLst>
          </a:custGeom>
          <a:blipFill>
            <a:blip r:embed="rId4"/>
            <a:stretch>
              <a:fillRect l="0" t="0" r="0" b="0"/>
            </a:stretch>
          </a:blipFill>
        </p:spPr>
      </p:sp>
      <p:sp>
        <p:nvSpPr>
          <p:cNvPr name="TextBox 4" id="4"/>
          <p:cNvSpPr txBox="true"/>
          <p:nvPr/>
        </p:nvSpPr>
        <p:spPr>
          <a:xfrm rot="0">
            <a:off x="8799033" y="4605020"/>
            <a:ext cx="6277873" cy="962660"/>
          </a:xfrm>
          <a:prstGeom prst="rect">
            <a:avLst/>
          </a:prstGeom>
        </p:spPr>
        <p:txBody>
          <a:bodyPr anchor="t" rtlCol="false" tIns="0" lIns="0" bIns="0" rIns="0">
            <a:spAutoFit/>
          </a:bodyPr>
          <a:lstStyle/>
          <a:p>
            <a:pPr algn="l">
              <a:lnSpc>
                <a:spcPts val="7840"/>
              </a:lnSpc>
            </a:pPr>
            <a:r>
              <a:rPr lang="en-US" b="true" sz="5600" spc="44">
                <a:solidFill>
                  <a:srgbClr val="FFFFFF"/>
                </a:solidFill>
                <a:latin typeface="Neue Machina Ultra-Bold"/>
                <a:ea typeface="Neue Machina Ultra-Bold"/>
                <a:cs typeface="Neue Machina Ultra-Bold"/>
                <a:sym typeface="Neue Machina Ultra-Bold"/>
              </a:rPr>
              <a:t>TERIMA KASIH</a:t>
            </a:r>
          </a:p>
        </p:txBody>
      </p:sp>
      <p:sp>
        <p:nvSpPr>
          <p:cNvPr name="TextBox 5" id="5"/>
          <p:cNvSpPr txBox="true"/>
          <p:nvPr/>
        </p:nvSpPr>
        <p:spPr>
          <a:xfrm rot="0">
            <a:off x="8799033" y="5785552"/>
            <a:ext cx="3321130" cy="596901"/>
          </a:xfrm>
          <a:prstGeom prst="rect">
            <a:avLst/>
          </a:prstGeom>
        </p:spPr>
        <p:txBody>
          <a:bodyPr anchor="t" rtlCol="false" tIns="0" lIns="0" bIns="0" rIns="0">
            <a:spAutoFit/>
          </a:bodyPr>
          <a:lstStyle/>
          <a:p>
            <a:pPr algn="l">
              <a:lnSpc>
                <a:spcPts val="4899"/>
              </a:lnSpc>
            </a:pPr>
            <a:r>
              <a:rPr lang="en-US" sz="3499">
                <a:solidFill>
                  <a:srgbClr val="CBC4FD"/>
                </a:solidFill>
                <a:latin typeface="Neue Machina"/>
                <a:ea typeface="Neue Machina"/>
                <a:cs typeface="Neue Machina"/>
                <a:sym typeface="Neue Machina"/>
              </a:rPr>
              <a:t>KELOMPOK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DAHK3YSG-E4</dc:identifier>
  <dcterms:modified xsi:type="dcterms:W3CDTF">2011-08-01T06:04:30Z</dcterms:modified>
  <cp:revision>1</cp:revision>
  <dc:title>Instacart Dataset_Kelompok 3</dc:title>
</cp:coreProperties>
</file>